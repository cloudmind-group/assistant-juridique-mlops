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Arimo" charset="1" panose="020B0604020202020204"/>
      <p:regular r:id="rId26"/>
    </p:embeddedFont>
    <p:embeddedFont>
      <p:font typeface="Arimo Bold" charset="1" panose="020B0704020202020204"/>
      <p:regular r:id="rId27"/>
    </p:embeddedFont>
    <p:embeddedFont>
      <p:font typeface="Arimo Italics" charset="1" panose="020B0604020202090204"/>
      <p:regular r:id="rId28"/>
    </p:embeddedFont>
    <p:embeddedFont>
      <p:font typeface="Segoe UI" charset="1" panose="020B0502040204020203"/>
      <p:regular r:id="rId29"/>
    </p:embeddedFont>
    <p:embeddedFont>
      <p:font typeface="Codec Pro" charset="1" panose="00000500000000000000"/>
      <p:regular r:id="rId30"/>
    </p:embeddedFont>
    <p:embeddedFont>
      <p:font typeface="Roboto Condensed Bold" charset="1" panose="02000000000000000000"/>
      <p:regular r:id="rId31"/>
    </p:embeddedFont>
    <p:embeddedFont>
      <p:font typeface="Roboto Condensed" charset="1" panose="02000000000000000000"/>
      <p:regular r:id="rId32"/>
    </p:embeddedFont>
    <p:embeddedFont>
      <p:font typeface="Roboto Condensed Italics" charset="1" panose="02000000000000000000"/>
      <p:regular r:id="rId33"/>
    </p:embeddedFont>
    <p:embeddedFont>
      <p:font typeface="Calibri (MS)" charset="1" panose="020F0502020204030204"/>
      <p:regular r:id="rId34"/>
    </p:embeddedFont>
    <p:embeddedFont>
      <p:font typeface="Segoe UI Bold" charset="1" panose="020B0802040204020203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png" Type="http://schemas.openxmlformats.org/officeDocument/2006/relationships/image"/><Relationship Id="rId4" Target="../media/image3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alais de justice - image d'illustration en fond de page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571500"/>
            <a:chOff x="0" y="0"/>
            <a:chExt cx="24384000" cy="762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762000"/>
            </a:xfrm>
            <a:custGeom>
              <a:avLst/>
              <a:gdLst/>
              <a:ahLst/>
              <a:cxnLst/>
              <a:rect r="r" b="b" t="t" l="l"/>
              <a:pathLst>
                <a:path h="762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FFFFF">
                <a:alpha val="93725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571500"/>
            <a:ext cx="18288000" cy="571500"/>
            <a:chOff x="0" y="0"/>
            <a:chExt cx="24384000" cy="762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762000"/>
            </a:xfrm>
            <a:custGeom>
              <a:avLst/>
              <a:gdLst/>
              <a:ahLst/>
              <a:cxnLst/>
              <a:rect r="r" b="b" t="t" l="l"/>
              <a:pathLst>
                <a:path h="762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FFFFF">
                <a:alpha val="92941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4384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0" y="1143000"/>
            <a:ext cx="18288000" cy="571500"/>
            <a:chOff x="0" y="0"/>
            <a:chExt cx="24384000" cy="762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384000" cy="762000"/>
            </a:xfrm>
            <a:custGeom>
              <a:avLst/>
              <a:gdLst/>
              <a:ahLst/>
              <a:cxnLst/>
              <a:rect r="r" b="b" t="t" l="l"/>
              <a:pathLst>
                <a:path h="762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FFFFF">
                <a:alpha val="91765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4384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0" y="1714500"/>
            <a:ext cx="18288000" cy="571500"/>
            <a:chOff x="0" y="0"/>
            <a:chExt cx="24384000" cy="762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384000" cy="762000"/>
            </a:xfrm>
            <a:custGeom>
              <a:avLst/>
              <a:gdLst/>
              <a:ahLst/>
              <a:cxnLst/>
              <a:rect r="r" b="b" t="t" l="l"/>
              <a:pathLst>
                <a:path h="762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FFFFF">
                <a:alpha val="89412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4384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0" y="2286000"/>
            <a:ext cx="18288000" cy="571500"/>
            <a:chOff x="0" y="0"/>
            <a:chExt cx="24384000" cy="762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384000" cy="762000"/>
            </a:xfrm>
            <a:custGeom>
              <a:avLst/>
              <a:gdLst/>
              <a:ahLst/>
              <a:cxnLst/>
              <a:rect r="r" b="b" t="t" l="l"/>
              <a:pathLst>
                <a:path h="762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FFFFF">
                <a:alpha val="87059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4384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0" y="2857500"/>
            <a:ext cx="18288000" cy="571500"/>
            <a:chOff x="0" y="0"/>
            <a:chExt cx="24384000" cy="762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384000" cy="762000"/>
            </a:xfrm>
            <a:custGeom>
              <a:avLst/>
              <a:gdLst/>
              <a:ahLst/>
              <a:cxnLst/>
              <a:rect r="r" b="b" t="t" l="l"/>
              <a:pathLst>
                <a:path h="762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FFFFF">
                <a:alpha val="83922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4384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0" y="3429000"/>
            <a:ext cx="18288000" cy="571500"/>
            <a:chOff x="0" y="0"/>
            <a:chExt cx="24384000" cy="762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4384000" cy="762000"/>
            </a:xfrm>
            <a:custGeom>
              <a:avLst/>
              <a:gdLst/>
              <a:ahLst/>
              <a:cxnLst/>
              <a:rect r="r" b="b" t="t" l="l"/>
              <a:pathLst>
                <a:path h="762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4384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0" y="4000500"/>
            <a:ext cx="18288000" cy="571500"/>
            <a:chOff x="0" y="0"/>
            <a:chExt cx="24384000" cy="762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4384000" cy="762000"/>
            </a:xfrm>
            <a:custGeom>
              <a:avLst/>
              <a:gdLst/>
              <a:ahLst/>
              <a:cxnLst/>
              <a:rect r="r" b="b" t="t" l="l"/>
              <a:pathLst>
                <a:path h="762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FFFFF">
                <a:alpha val="76863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4384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0" y="4572000"/>
            <a:ext cx="18288000" cy="571500"/>
            <a:chOff x="0" y="0"/>
            <a:chExt cx="24384000" cy="762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4384000" cy="762000"/>
            </a:xfrm>
            <a:custGeom>
              <a:avLst/>
              <a:gdLst/>
              <a:ahLst/>
              <a:cxnLst/>
              <a:rect r="r" b="b" t="t" l="l"/>
              <a:pathLst>
                <a:path h="762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FFFFF">
                <a:alpha val="72941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4384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0" y="5143500"/>
            <a:ext cx="18288000" cy="571500"/>
            <a:chOff x="0" y="0"/>
            <a:chExt cx="24384000" cy="762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4384000" cy="762000"/>
            </a:xfrm>
            <a:custGeom>
              <a:avLst/>
              <a:gdLst/>
              <a:ahLst/>
              <a:cxnLst/>
              <a:rect r="r" b="b" t="t" l="l"/>
              <a:pathLst>
                <a:path h="762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FFFFF">
                <a:alpha val="6862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24384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0" y="5715000"/>
            <a:ext cx="18288000" cy="571500"/>
            <a:chOff x="0" y="0"/>
            <a:chExt cx="24384000" cy="7620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4384000" cy="762000"/>
            </a:xfrm>
            <a:custGeom>
              <a:avLst/>
              <a:gdLst/>
              <a:ahLst/>
              <a:cxnLst/>
              <a:rect r="r" b="b" t="t" l="l"/>
              <a:pathLst>
                <a:path h="762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FFFFF">
                <a:alpha val="63922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24384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0" y="6286500"/>
            <a:ext cx="18288000" cy="571500"/>
            <a:chOff x="0" y="0"/>
            <a:chExt cx="24384000" cy="762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4384000" cy="762000"/>
            </a:xfrm>
            <a:custGeom>
              <a:avLst/>
              <a:gdLst/>
              <a:ahLst/>
              <a:cxnLst/>
              <a:rect r="r" b="b" t="t" l="l"/>
              <a:pathLst>
                <a:path h="762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FFFFF">
                <a:alpha val="5882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24384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0" y="6858000"/>
            <a:ext cx="18288000" cy="571500"/>
            <a:chOff x="0" y="0"/>
            <a:chExt cx="24384000" cy="762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4384000" cy="762000"/>
            </a:xfrm>
            <a:custGeom>
              <a:avLst/>
              <a:gdLst/>
              <a:ahLst/>
              <a:cxnLst/>
              <a:rect r="r" b="b" t="t" l="l"/>
              <a:pathLst>
                <a:path h="762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FFFFF">
                <a:alpha val="53333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24384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0" y="7429500"/>
            <a:ext cx="18288000" cy="571500"/>
            <a:chOff x="0" y="0"/>
            <a:chExt cx="24384000" cy="7620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4384000" cy="762000"/>
            </a:xfrm>
            <a:custGeom>
              <a:avLst/>
              <a:gdLst/>
              <a:ahLst/>
              <a:cxnLst/>
              <a:rect r="r" b="b" t="t" l="l"/>
              <a:pathLst>
                <a:path h="762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FFFFF">
                <a:alpha val="47843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24384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0" y="8001000"/>
            <a:ext cx="18288000" cy="571500"/>
            <a:chOff x="0" y="0"/>
            <a:chExt cx="24384000" cy="7620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4384000" cy="762000"/>
            </a:xfrm>
            <a:custGeom>
              <a:avLst/>
              <a:gdLst/>
              <a:ahLst/>
              <a:cxnLst/>
              <a:rect r="r" b="b" t="t" l="l"/>
              <a:pathLst>
                <a:path h="762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FFFFF">
                <a:alpha val="41961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24384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0" y="8572500"/>
            <a:ext cx="18288000" cy="571500"/>
            <a:chOff x="0" y="0"/>
            <a:chExt cx="24384000" cy="7620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4384000" cy="762000"/>
            </a:xfrm>
            <a:custGeom>
              <a:avLst/>
              <a:gdLst/>
              <a:ahLst/>
              <a:cxnLst/>
              <a:rect r="r" b="b" t="t" l="l"/>
              <a:pathLst>
                <a:path h="762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FFFFF">
                <a:alpha val="3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24384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0" y="9144000"/>
            <a:ext cx="18288000" cy="571500"/>
            <a:chOff x="0" y="0"/>
            <a:chExt cx="24384000" cy="7620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4384000" cy="762000"/>
            </a:xfrm>
            <a:custGeom>
              <a:avLst/>
              <a:gdLst/>
              <a:ahLst/>
              <a:cxnLst/>
              <a:rect r="r" b="b" t="t" l="l"/>
              <a:pathLst>
                <a:path h="762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FFFFF">
                <a:alpha val="2902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24384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0" y="9715500"/>
            <a:ext cx="18288000" cy="571500"/>
            <a:chOff x="0" y="0"/>
            <a:chExt cx="24384000" cy="7620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4384000" cy="762000"/>
            </a:xfrm>
            <a:custGeom>
              <a:avLst/>
              <a:gdLst/>
              <a:ahLst/>
              <a:cxnLst/>
              <a:rect r="r" b="b" t="t" l="l"/>
              <a:pathLst>
                <a:path h="762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FFFFF">
                <a:alpha val="27843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24384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0" y="0"/>
            <a:ext cx="133350" cy="10287000"/>
            <a:chOff x="0" y="0"/>
            <a:chExt cx="177800" cy="137160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77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4F34"/>
            </a:solidFill>
            <a:ln cap="sq">
              <a:noFill/>
              <a:prstDash val="solid"/>
              <a:miter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1778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800100" y="5334000"/>
            <a:ext cx="16687800" cy="28575"/>
            <a:chOff x="0" y="0"/>
            <a:chExt cx="22250400" cy="381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2250400" cy="38100"/>
            </a:xfrm>
            <a:custGeom>
              <a:avLst/>
              <a:gdLst/>
              <a:ahLst/>
              <a:cxnLst/>
              <a:rect r="r" b="b" t="t" l="l"/>
              <a:pathLst>
                <a:path h="38100" w="22250400">
                  <a:moveTo>
                    <a:pt x="0" y="0"/>
                  </a:moveTo>
                  <a:lnTo>
                    <a:pt x="22250400" y="0"/>
                  </a:lnTo>
                  <a:lnTo>
                    <a:pt x="222504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84F34"/>
            </a:solidFill>
            <a:ln cap="sq">
              <a:noFill/>
              <a:prstDash val="solid"/>
              <a:miter/>
            </a:ln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222504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1620500" y="6229350"/>
            <a:ext cx="47625" cy="1238250"/>
            <a:chOff x="0" y="0"/>
            <a:chExt cx="63500" cy="16510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35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63500">
                  <a:moveTo>
                    <a:pt x="0" y="0"/>
                  </a:moveTo>
                  <a:lnTo>
                    <a:pt x="63500" y="0"/>
                  </a:lnTo>
                  <a:lnTo>
                    <a:pt x="63500" y="1651000"/>
                  </a:lnTo>
                  <a:lnTo>
                    <a:pt x="0" y="1651000"/>
                  </a:lnTo>
                  <a:close/>
                </a:path>
              </a:pathLst>
            </a:custGeom>
            <a:solidFill>
              <a:srgbClr val="C9D4C6"/>
            </a:solidFill>
            <a:ln cap="sq">
              <a:noFill/>
              <a:prstDash val="solid"/>
              <a:miter/>
            </a:ln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635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66" id="66" descr="Logo de la Faculte des Sciences Ben M'Sik, Universite Hassan II de Casablanca"/>
          <p:cNvSpPr/>
          <p:nvPr/>
        </p:nvSpPr>
        <p:spPr>
          <a:xfrm flipH="false" flipV="false" rot="0">
            <a:off x="800100" y="533400"/>
            <a:ext cx="3429000" cy="1333500"/>
          </a:xfrm>
          <a:custGeom>
            <a:avLst/>
            <a:gdLst/>
            <a:ahLst/>
            <a:cxnLst/>
            <a:rect r="r" b="b" t="t" l="l"/>
            <a:pathLst>
              <a:path h="1333500" w="3429000">
                <a:moveTo>
                  <a:pt x="0" y="0"/>
                </a:moveTo>
                <a:lnTo>
                  <a:pt x="3429000" y="0"/>
                </a:lnTo>
                <a:lnTo>
                  <a:pt x="34290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25" r="0" b="-125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0">
            <a:off x="14659419" y="331604"/>
            <a:ext cx="2828481" cy="1601971"/>
          </a:xfrm>
          <a:custGeom>
            <a:avLst/>
            <a:gdLst/>
            <a:ahLst/>
            <a:cxnLst/>
            <a:rect r="r" b="b" t="t" l="l"/>
            <a:pathLst>
              <a:path h="1601971" w="2828481">
                <a:moveTo>
                  <a:pt x="0" y="0"/>
                </a:moveTo>
                <a:lnTo>
                  <a:pt x="2828481" y="0"/>
                </a:lnTo>
                <a:lnTo>
                  <a:pt x="2828481" y="1601971"/>
                </a:lnTo>
                <a:lnTo>
                  <a:pt x="0" y="16019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8" id="68"/>
          <p:cNvSpPr txBox="true"/>
          <p:nvPr/>
        </p:nvSpPr>
        <p:spPr>
          <a:xfrm rot="0">
            <a:off x="4476750" y="676275"/>
            <a:ext cx="9810750" cy="1062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7"/>
              </a:lnSpc>
            </a:pPr>
            <a:r>
              <a:rPr lang="en-US" sz="195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Université Hassan II de Casablanca</a:t>
            </a:r>
          </a:p>
          <a:p>
            <a:pPr algn="ctr">
              <a:lnSpc>
                <a:spcPts val="2827"/>
              </a:lnSpc>
            </a:pPr>
            <a:r>
              <a:rPr lang="en-US" sz="195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Faculté des Sciences Ben M'Sik</a:t>
            </a:r>
          </a:p>
          <a:p>
            <a:pPr algn="ctr">
              <a:lnSpc>
                <a:spcPts val="2827"/>
              </a:lnSpc>
            </a:pPr>
            <a:r>
              <a:rPr lang="en-US" sz="195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Département de Mathématiques et Informatique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800100" y="3009900"/>
            <a:ext cx="1668780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184F34"/>
                </a:solidFill>
                <a:latin typeface="Arimo Bold"/>
                <a:ea typeface="Arimo Bold"/>
                <a:cs typeface="Arimo Bold"/>
                <a:sym typeface="Arimo Bold"/>
              </a:rPr>
              <a:t>Assistant Juridique Intelligent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800100" y="4181475"/>
            <a:ext cx="1668780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i="true">
                <a:solidFill>
                  <a:srgbClr val="666666"/>
                </a:solidFill>
                <a:latin typeface="Arimo Italics"/>
                <a:ea typeface="Arimo Italics"/>
                <a:cs typeface="Arimo Italics"/>
                <a:sym typeface="Arimo Italics"/>
              </a:rPr>
              <a:t>Architecture MLOps de bout en bout pour le droit marocain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800100" y="6267450"/>
            <a:ext cx="1009650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Réalisé par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800100" y="6886575"/>
            <a:ext cx="10096500" cy="47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05"/>
              </a:lnSpc>
              <a:spcBef>
                <a:spcPct val="0"/>
              </a:spcBef>
            </a:pPr>
            <a:r>
              <a:rPr lang="en-US" sz="28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Équipe CloudMind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2192000" y="6267450"/>
            <a:ext cx="529590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Encadré par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2192000" y="6886575"/>
            <a:ext cx="5295900" cy="47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5"/>
              </a:lnSpc>
            </a:pPr>
            <a:r>
              <a:rPr lang="en-US" sz="28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Pr. AIT DAOUD Mohamed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800100" y="9277350"/>
            <a:ext cx="95250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4A5A51"/>
                </a:solidFill>
                <a:latin typeface="Arimo"/>
                <a:ea typeface="Arimo"/>
                <a:cs typeface="Arimo"/>
                <a:sym typeface="Arimo"/>
              </a:rPr>
              <a:t>Septembre 2026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5530341" y="9609220"/>
            <a:ext cx="2262702" cy="249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95"/>
              </a:lnSpc>
            </a:pPr>
            <a:r>
              <a:rPr lang="en-US" sz="1425">
                <a:solidFill>
                  <a:srgbClr val="737875"/>
                </a:solidFill>
                <a:latin typeface="Arimo"/>
                <a:ea typeface="Arimo"/>
                <a:cs typeface="Arimo"/>
                <a:sym typeface="Arimo"/>
              </a:rPr>
              <a:t>01 / 19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0100" y="2495550"/>
            <a:ext cx="16687800" cy="38100"/>
            <a:chOff x="0" y="0"/>
            <a:chExt cx="22250400" cy="50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250400" cy="50800"/>
            </a:xfrm>
            <a:custGeom>
              <a:avLst/>
              <a:gdLst/>
              <a:ahLst/>
              <a:cxnLst/>
              <a:rect r="r" b="b" t="t" l="l"/>
              <a:pathLst>
                <a:path h="50800" w="22250400">
                  <a:moveTo>
                    <a:pt x="0" y="0"/>
                  </a:moveTo>
                  <a:lnTo>
                    <a:pt x="22250400" y="0"/>
                  </a:lnTo>
                  <a:lnTo>
                    <a:pt x="222504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5452E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2504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286500" y="2914650"/>
            <a:ext cx="5429250" cy="1428750"/>
            <a:chOff x="0" y="0"/>
            <a:chExt cx="7239000" cy="1905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239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7239000">
                  <a:moveTo>
                    <a:pt x="127000" y="0"/>
                  </a:moveTo>
                  <a:lnTo>
                    <a:pt x="7112000" y="0"/>
                  </a:lnTo>
                  <a:cubicBezTo>
                    <a:pt x="7182140" y="0"/>
                    <a:pt x="7239000" y="56860"/>
                    <a:pt x="7239000" y="127000"/>
                  </a:cubicBezTo>
                  <a:lnTo>
                    <a:pt x="7239000" y="1778000"/>
                  </a:lnTo>
                  <a:cubicBezTo>
                    <a:pt x="7239000" y="1848140"/>
                    <a:pt x="7182140" y="1905000"/>
                    <a:pt x="7112000" y="1905000"/>
                  </a:cubicBezTo>
                  <a:lnTo>
                    <a:pt x="127000" y="1905000"/>
                  </a:lnTo>
                  <a:cubicBezTo>
                    <a:pt x="56860" y="1905000"/>
                    <a:pt x="0" y="1848140"/>
                    <a:pt x="0" y="1778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4F8F2"/>
            </a:solidFill>
            <a:ln w="14288" cap="sq">
              <a:solidFill>
                <a:srgbClr val="DCE7D7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239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286500" y="4514850"/>
            <a:ext cx="5429250" cy="1428750"/>
            <a:chOff x="0" y="0"/>
            <a:chExt cx="7239000" cy="1905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239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7239000">
                  <a:moveTo>
                    <a:pt x="127000" y="0"/>
                  </a:moveTo>
                  <a:lnTo>
                    <a:pt x="7112000" y="0"/>
                  </a:lnTo>
                  <a:cubicBezTo>
                    <a:pt x="7182140" y="0"/>
                    <a:pt x="7239000" y="56860"/>
                    <a:pt x="7239000" y="127000"/>
                  </a:cubicBezTo>
                  <a:lnTo>
                    <a:pt x="7239000" y="1778000"/>
                  </a:lnTo>
                  <a:cubicBezTo>
                    <a:pt x="7239000" y="1848140"/>
                    <a:pt x="7182140" y="1905000"/>
                    <a:pt x="7112000" y="1905000"/>
                  </a:cubicBezTo>
                  <a:lnTo>
                    <a:pt x="127000" y="1905000"/>
                  </a:lnTo>
                  <a:cubicBezTo>
                    <a:pt x="56860" y="1905000"/>
                    <a:pt x="0" y="1848140"/>
                    <a:pt x="0" y="1778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4F8F2"/>
            </a:solidFill>
            <a:ln w="14288" cap="sq">
              <a:solidFill>
                <a:srgbClr val="DCE7D7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239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286500" y="6115050"/>
            <a:ext cx="5429250" cy="1428750"/>
            <a:chOff x="0" y="0"/>
            <a:chExt cx="7239000" cy="1905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239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7239000">
                  <a:moveTo>
                    <a:pt x="127000" y="0"/>
                  </a:moveTo>
                  <a:lnTo>
                    <a:pt x="7112000" y="0"/>
                  </a:lnTo>
                  <a:cubicBezTo>
                    <a:pt x="7182140" y="0"/>
                    <a:pt x="7239000" y="56860"/>
                    <a:pt x="7239000" y="127000"/>
                  </a:cubicBezTo>
                  <a:lnTo>
                    <a:pt x="7239000" y="1778000"/>
                  </a:lnTo>
                  <a:cubicBezTo>
                    <a:pt x="7239000" y="1848140"/>
                    <a:pt x="7182140" y="1905000"/>
                    <a:pt x="7112000" y="1905000"/>
                  </a:cubicBezTo>
                  <a:lnTo>
                    <a:pt x="127000" y="1905000"/>
                  </a:lnTo>
                  <a:cubicBezTo>
                    <a:pt x="56860" y="1905000"/>
                    <a:pt x="0" y="1848140"/>
                    <a:pt x="0" y="1778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4F8F2"/>
            </a:solidFill>
            <a:ln w="14288" cap="sq">
              <a:solidFill>
                <a:srgbClr val="DCE7D7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7239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286500" y="7715250"/>
            <a:ext cx="5429250" cy="1428750"/>
            <a:chOff x="0" y="0"/>
            <a:chExt cx="7239000" cy="1905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239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7239000">
                  <a:moveTo>
                    <a:pt x="127000" y="0"/>
                  </a:moveTo>
                  <a:lnTo>
                    <a:pt x="7112000" y="0"/>
                  </a:lnTo>
                  <a:cubicBezTo>
                    <a:pt x="7182140" y="0"/>
                    <a:pt x="7239000" y="56860"/>
                    <a:pt x="7239000" y="127000"/>
                  </a:cubicBezTo>
                  <a:lnTo>
                    <a:pt x="7239000" y="1778000"/>
                  </a:lnTo>
                  <a:cubicBezTo>
                    <a:pt x="7239000" y="1848140"/>
                    <a:pt x="7182140" y="1905000"/>
                    <a:pt x="7112000" y="1905000"/>
                  </a:cubicBezTo>
                  <a:lnTo>
                    <a:pt x="127000" y="1905000"/>
                  </a:lnTo>
                  <a:cubicBezTo>
                    <a:pt x="56860" y="1905000"/>
                    <a:pt x="0" y="1848140"/>
                    <a:pt x="0" y="1778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4F8F2"/>
            </a:solidFill>
            <a:ln w="14288" cap="sq">
              <a:solidFill>
                <a:srgbClr val="DCE7D7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7239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058650" y="2914650"/>
            <a:ext cx="5429250" cy="1428750"/>
            <a:chOff x="0" y="0"/>
            <a:chExt cx="7239000" cy="1905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239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7239000">
                  <a:moveTo>
                    <a:pt x="127000" y="0"/>
                  </a:moveTo>
                  <a:lnTo>
                    <a:pt x="7112000" y="0"/>
                  </a:lnTo>
                  <a:cubicBezTo>
                    <a:pt x="7182140" y="0"/>
                    <a:pt x="7239000" y="56860"/>
                    <a:pt x="7239000" y="127000"/>
                  </a:cubicBezTo>
                  <a:lnTo>
                    <a:pt x="7239000" y="1778000"/>
                  </a:lnTo>
                  <a:cubicBezTo>
                    <a:pt x="7239000" y="1848140"/>
                    <a:pt x="7182140" y="1905000"/>
                    <a:pt x="7112000" y="1905000"/>
                  </a:cubicBezTo>
                  <a:lnTo>
                    <a:pt x="127000" y="1905000"/>
                  </a:lnTo>
                  <a:cubicBezTo>
                    <a:pt x="56860" y="1905000"/>
                    <a:pt x="0" y="1848140"/>
                    <a:pt x="0" y="1778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4F8F2"/>
            </a:solidFill>
            <a:ln w="14288" cap="sq">
              <a:solidFill>
                <a:srgbClr val="DCE7D7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7239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058650" y="4514850"/>
            <a:ext cx="5429250" cy="1428750"/>
            <a:chOff x="0" y="0"/>
            <a:chExt cx="7239000" cy="1905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239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7239000">
                  <a:moveTo>
                    <a:pt x="127000" y="0"/>
                  </a:moveTo>
                  <a:lnTo>
                    <a:pt x="7112000" y="0"/>
                  </a:lnTo>
                  <a:cubicBezTo>
                    <a:pt x="7182140" y="0"/>
                    <a:pt x="7239000" y="56860"/>
                    <a:pt x="7239000" y="127000"/>
                  </a:cubicBezTo>
                  <a:lnTo>
                    <a:pt x="7239000" y="1778000"/>
                  </a:lnTo>
                  <a:cubicBezTo>
                    <a:pt x="7239000" y="1848140"/>
                    <a:pt x="7182140" y="1905000"/>
                    <a:pt x="7112000" y="1905000"/>
                  </a:cubicBezTo>
                  <a:lnTo>
                    <a:pt x="127000" y="1905000"/>
                  </a:lnTo>
                  <a:cubicBezTo>
                    <a:pt x="56860" y="1905000"/>
                    <a:pt x="0" y="1848140"/>
                    <a:pt x="0" y="1778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4F8F2"/>
            </a:solidFill>
            <a:ln w="14288" cap="sq">
              <a:solidFill>
                <a:srgbClr val="DCE7D7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7239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058650" y="6115050"/>
            <a:ext cx="5429250" cy="1428750"/>
            <a:chOff x="0" y="0"/>
            <a:chExt cx="7239000" cy="1905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239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7239000">
                  <a:moveTo>
                    <a:pt x="127000" y="0"/>
                  </a:moveTo>
                  <a:lnTo>
                    <a:pt x="7112000" y="0"/>
                  </a:lnTo>
                  <a:cubicBezTo>
                    <a:pt x="7182140" y="0"/>
                    <a:pt x="7239000" y="56860"/>
                    <a:pt x="7239000" y="127000"/>
                  </a:cubicBezTo>
                  <a:lnTo>
                    <a:pt x="7239000" y="1778000"/>
                  </a:lnTo>
                  <a:cubicBezTo>
                    <a:pt x="7239000" y="1848140"/>
                    <a:pt x="7182140" y="1905000"/>
                    <a:pt x="7112000" y="1905000"/>
                  </a:cubicBezTo>
                  <a:lnTo>
                    <a:pt x="127000" y="1905000"/>
                  </a:lnTo>
                  <a:cubicBezTo>
                    <a:pt x="56860" y="1905000"/>
                    <a:pt x="0" y="1848140"/>
                    <a:pt x="0" y="1778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4F8F2"/>
            </a:solidFill>
            <a:ln w="14288" cap="sq">
              <a:solidFill>
                <a:srgbClr val="DCE7D7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7239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058650" y="7715250"/>
            <a:ext cx="5429250" cy="1428750"/>
            <a:chOff x="0" y="0"/>
            <a:chExt cx="7239000" cy="1905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239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7239000">
                  <a:moveTo>
                    <a:pt x="127000" y="0"/>
                  </a:moveTo>
                  <a:lnTo>
                    <a:pt x="7112000" y="0"/>
                  </a:lnTo>
                  <a:cubicBezTo>
                    <a:pt x="7182140" y="0"/>
                    <a:pt x="7239000" y="56860"/>
                    <a:pt x="7239000" y="127000"/>
                  </a:cubicBezTo>
                  <a:lnTo>
                    <a:pt x="7239000" y="1778000"/>
                  </a:lnTo>
                  <a:cubicBezTo>
                    <a:pt x="7239000" y="1848140"/>
                    <a:pt x="7182140" y="1905000"/>
                    <a:pt x="7112000" y="1905000"/>
                  </a:cubicBezTo>
                  <a:lnTo>
                    <a:pt x="127000" y="1905000"/>
                  </a:lnTo>
                  <a:cubicBezTo>
                    <a:pt x="56860" y="1905000"/>
                    <a:pt x="0" y="1848140"/>
                    <a:pt x="0" y="1778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4F8F2"/>
            </a:solidFill>
            <a:ln w="14288" cap="sq">
              <a:solidFill>
                <a:srgbClr val="DCE7D7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7239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477000" y="3124200"/>
            <a:ext cx="552450" cy="552450"/>
            <a:chOff x="0" y="0"/>
            <a:chExt cx="736600" cy="7366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101600" y="0"/>
                  </a:moveTo>
                  <a:lnTo>
                    <a:pt x="635000" y="0"/>
                  </a:lnTo>
                  <a:cubicBezTo>
                    <a:pt x="691112" y="0"/>
                    <a:pt x="736600" y="45488"/>
                    <a:pt x="736600" y="101600"/>
                  </a:cubicBezTo>
                  <a:lnTo>
                    <a:pt x="736600" y="635000"/>
                  </a:lnTo>
                  <a:cubicBezTo>
                    <a:pt x="736600" y="691112"/>
                    <a:pt x="691112" y="736600"/>
                    <a:pt x="635000" y="736600"/>
                  </a:cubicBezTo>
                  <a:lnTo>
                    <a:pt x="101600" y="736600"/>
                  </a:lnTo>
                  <a:cubicBezTo>
                    <a:pt x="45488" y="736600"/>
                    <a:pt x="0" y="691112"/>
                    <a:pt x="0" y="635000"/>
                  </a:cubicBezTo>
                  <a:lnTo>
                    <a:pt x="0" y="101600"/>
                  </a:ln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25452E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7366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477000" y="4724400"/>
            <a:ext cx="552450" cy="552450"/>
            <a:chOff x="0" y="0"/>
            <a:chExt cx="736600" cy="7366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101600" y="0"/>
                  </a:moveTo>
                  <a:lnTo>
                    <a:pt x="635000" y="0"/>
                  </a:lnTo>
                  <a:cubicBezTo>
                    <a:pt x="691112" y="0"/>
                    <a:pt x="736600" y="45488"/>
                    <a:pt x="736600" y="101600"/>
                  </a:cubicBezTo>
                  <a:lnTo>
                    <a:pt x="736600" y="635000"/>
                  </a:lnTo>
                  <a:cubicBezTo>
                    <a:pt x="736600" y="691112"/>
                    <a:pt x="691112" y="736600"/>
                    <a:pt x="635000" y="736600"/>
                  </a:cubicBezTo>
                  <a:lnTo>
                    <a:pt x="101600" y="736600"/>
                  </a:lnTo>
                  <a:cubicBezTo>
                    <a:pt x="45488" y="736600"/>
                    <a:pt x="0" y="691112"/>
                    <a:pt x="0" y="635000"/>
                  </a:cubicBezTo>
                  <a:lnTo>
                    <a:pt x="0" y="101600"/>
                  </a:ln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25452E"/>
            </a:solidFill>
            <a:ln cap="sq">
              <a:noFill/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7366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477000" y="6324600"/>
            <a:ext cx="552450" cy="552450"/>
            <a:chOff x="0" y="0"/>
            <a:chExt cx="736600" cy="7366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101600" y="0"/>
                  </a:moveTo>
                  <a:lnTo>
                    <a:pt x="635000" y="0"/>
                  </a:lnTo>
                  <a:cubicBezTo>
                    <a:pt x="691112" y="0"/>
                    <a:pt x="736600" y="45488"/>
                    <a:pt x="736600" y="101600"/>
                  </a:cubicBezTo>
                  <a:lnTo>
                    <a:pt x="736600" y="635000"/>
                  </a:lnTo>
                  <a:cubicBezTo>
                    <a:pt x="736600" y="691112"/>
                    <a:pt x="691112" y="736600"/>
                    <a:pt x="635000" y="736600"/>
                  </a:cubicBezTo>
                  <a:lnTo>
                    <a:pt x="101600" y="736600"/>
                  </a:lnTo>
                  <a:cubicBezTo>
                    <a:pt x="45488" y="736600"/>
                    <a:pt x="0" y="691112"/>
                    <a:pt x="0" y="635000"/>
                  </a:cubicBezTo>
                  <a:lnTo>
                    <a:pt x="0" y="101600"/>
                  </a:ln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25452E"/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7366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477000" y="7924800"/>
            <a:ext cx="552450" cy="552450"/>
            <a:chOff x="0" y="0"/>
            <a:chExt cx="736600" cy="7366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101600" y="0"/>
                  </a:moveTo>
                  <a:lnTo>
                    <a:pt x="635000" y="0"/>
                  </a:lnTo>
                  <a:cubicBezTo>
                    <a:pt x="691112" y="0"/>
                    <a:pt x="736600" y="45488"/>
                    <a:pt x="736600" y="101600"/>
                  </a:cubicBezTo>
                  <a:lnTo>
                    <a:pt x="736600" y="635000"/>
                  </a:lnTo>
                  <a:cubicBezTo>
                    <a:pt x="736600" y="691112"/>
                    <a:pt x="691112" y="736600"/>
                    <a:pt x="635000" y="736600"/>
                  </a:cubicBezTo>
                  <a:lnTo>
                    <a:pt x="101600" y="736600"/>
                  </a:lnTo>
                  <a:cubicBezTo>
                    <a:pt x="45488" y="736600"/>
                    <a:pt x="0" y="691112"/>
                    <a:pt x="0" y="635000"/>
                  </a:cubicBezTo>
                  <a:lnTo>
                    <a:pt x="0" y="101600"/>
                  </a:ln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25452E"/>
            </a:solidFill>
            <a:ln cap="sq">
              <a:noFill/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7366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249150" y="3124200"/>
            <a:ext cx="552450" cy="552450"/>
            <a:chOff x="0" y="0"/>
            <a:chExt cx="736600" cy="7366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101600" y="0"/>
                  </a:moveTo>
                  <a:lnTo>
                    <a:pt x="635000" y="0"/>
                  </a:lnTo>
                  <a:cubicBezTo>
                    <a:pt x="691112" y="0"/>
                    <a:pt x="736600" y="45488"/>
                    <a:pt x="736600" y="101600"/>
                  </a:cubicBezTo>
                  <a:lnTo>
                    <a:pt x="736600" y="635000"/>
                  </a:lnTo>
                  <a:cubicBezTo>
                    <a:pt x="736600" y="691112"/>
                    <a:pt x="691112" y="736600"/>
                    <a:pt x="635000" y="736600"/>
                  </a:cubicBezTo>
                  <a:lnTo>
                    <a:pt x="101600" y="736600"/>
                  </a:lnTo>
                  <a:cubicBezTo>
                    <a:pt x="45488" y="736600"/>
                    <a:pt x="0" y="691112"/>
                    <a:pt x="0" y="635000"/>
                  </a:cubicBezTo>
                  <a:lnTo>
                    <a:pt x="0" y="101600"/>
                  </a:ln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25452E"/>
            </a:solidFill>
            <a:ln cap="sq">
              <a:noFill/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7366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249150" y="4724400"/>
            <a:ext cx="552450" cy="552450"/>
            <a:chOff x="0" y="0"/>
            <a:chExt cx="736600" cy="7366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101600" y="0"/>
                  </a:moveTo>
                  <a:lnTo>
                    <a:pt x="635000" y="0"/>
                  </a:lnTo>
                  <a:cubicBezTo>
                    <a:pt x="691112" y="0"/>
                    <a:pt x="736600" y="45488"/>
                    <a:pt x="736600" y="101600"/>
                  </a:cubicBezTo>
                  <a:lnTo>
                    <a:pt x="736600" y="635000"/>
                  </a:lnTo>
                  <a:cubicBezTo>
                    <a:pt x="736600" y="691112"/>
                    <a:pt x="691112" y="736600"/>
                    <a:pt x="635000" y="736600"/>
                  </a:cubicBezTo>
                  <a:lnTo>
                    <a:pt x="101600" y="736600"/>
                  </a:lnTo>
                  <a:cubicBezTo>
                    <a:pt x="45488" y="736600"/>
                    <a:pt x="0" y="691112"/>
                    <a:pt x="0" y="635000"/>
                  </a:cubicBezTo>
                  <a:lnTo>
                    <a:pt x="0" y="101600"/>
                  </a:ln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25452E"/>
            </a:solidFill>
            <a:ln cap="sq">
              <a:noFill/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7366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249150" y="6324600"/>
            <a:ext cx="552450" cy="552450"/>
            <a:chOff x="0" y="0"/>
            <a:chExt cx="736600" cy="7366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101600" y="0"/>
                  </a:moveTo>
                  <a:lnTo>
                    <a:pt x="635000" y="0"/>
                  </a:lnTo>
                  <a:cubicBezTo>
                    <a:pt x="691112" y="0"/>
                    <a:pt x="736600" y="45488"/>
                    <a:pt x="736600" y="101600"/>
                  </a:cubicBezTo>
                  <a:lnTo>
                    <a:pt x="736600" y="635000"/>
                  </a:lnTo>
                  <a:cubicBezTo>
                    <a:pt x="736600" y="691112"/>
                    <a:pt x="691112" y="736600"/>
                    <a:pt x="635000" y="736600"/>
                  </a:cubicBezTo>
                  <a:lnTo>
                    <a:pt x="101600" y="736600"/>
                  </a:lnTo>
                  <a:cubicBezTo>
                    <a:pt x="45488" y="736600"/>
                    <a:pt x="0" y="691112"/>
                    <a:pt x="0" y="635000"/>
                  </a:cubicBezTo>
                  <a:lnTo>
                    <a:pt x="0" y="101600"/>
                  </a:ln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25452E"/>
            </a:solidFill>
            <a:ln cap="sq">
              <a:noFill/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7366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249150" y="7924800"/>
            <a:ext cx="552450" cy="552450"/>
            <a:chOff x="0" y="0"/>
            <a:chExt cx="736600" cy="7366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101600" y="0"/>
                  </a:moveTo>
                  <a:lnTo>
                    <a:pt x="635000" y="0"/>
                  </a:lnTo>
                  <a:cubicBezTo>
                    <a:pt x="691112" y="0"/>
                    <a:pt x="736600" y="45488"/>
                    <a:pt x="736600" y="101600"/>
                  </a:cubicBezTo>
                  <a:lnTo>
                    <a:pt x="736600" y="635000"/>
                  </a:lnTo>
                  <a:cubicBezTo>
                    <a:pt x="736600" y="691112"/>
                    <a:pt x="691112" y="736600"/>
                    <a:pt x="635000" y="736600"/>
                  </a:cubicBezTo>
                  <a:lnTo>
                    <a:pt x="101600" y="736600"/>
                  </a:lnTo>
                  <a:cubicBezTo>
                    <a:pt x="45488" y="736600"/>
                    <a:pt x="0" y="691112"/>
                    <a:pt x="0" y="635000"/>
                  </a:cubicBezTo>
                  <a:lnTo>
                    <a:pt x="0" y="101600"/>
                  </a:ln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25452E"/>
            </a:solidFill>
            <a:ln cap="sq">
              <a:noFill/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7366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800100" y="533400"/>
            <a:ext cx="133350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478256"/>
                </a:solidFill>
                <a:latin typeface="Arimo Bold"/>
                <a:ea typeface="Arimo Bold"/>
                <a:cs typeface="Arimo Bold"/>
                <a:sym typeface="Arimo Bold"/>
              </a:rPr>
              <a:t>CloudMind Group · Soutenance de projet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800100" y="971550"/>
            <a:ext cx="14287500" cy="86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5"/>
              </a:lnSpc>
            </a:pPr>
            <a:r>
              <a:rPr lang="en-US" sz="5700" b="true">
                <a:solidFill>
                  <a:srgbClr val="25452E"/>
                </a:solidFill>
                <a:latin typeface="Arimo Bold"/>
                <a:ea typeface="Arimo Bold"/>
                <a:cs typeface="Arimo Bold"/>
                <a:sym typeface="Arimo Bold"/>
              </a:rPr>
              <a:t>Assistant Juridique Intelligent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800100" y="1905000"/>
            <a:ext cx="15240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4A5A51"/>
                </a:solidFill>
                <a:latin typeface="Arimo Bold"/>
                <a:ea typeface="Arimo Bold"/>
                <a:cs typeface="Arimo Bold"/>
                <a:sym typeface="Arimo Bold"/>
              </a:rPr>
              <a:t>Architecture MLOps de bout en bout — huit ingénieurs, huit modules, un mois de réalisation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800100" y="2847975"/>
            <a:ext cx="4953000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0"/>
              </a:lnSpc>
            </a:pPr>
            <a:r>
              <a:rPr lang="en-US" b="true" sz="2850" u="sng">
                <a:solidFill>
                  <a:srgbClr val="25452E"/>
                </a:solidFill>
                <a:latin typeface="Arimo Bold"/>
                <a:ea typeface="Arimo Bold"/>
                <a:cs typeface="Arimo Bold"/>
                <a:sym typeface="Arimo Bold"/>
              </a:rPr>
              <a:t>Le projet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800100" y="3467100"/>
            <a:ext cx="4953000" cy="4817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1875" b="true">
                <a:solidFill>
                  <a:srgbClr val="2B3A32"/>
                </a:solidFill>
                <a:latin typeface="Arimo Bold"/>
                <a:ea typeface="Arimo Bold"/>
                <a:cs typeface="Arimo Bold"/>
                <a:sym typeface="Arimo Bold"/>
              </a:rPr>
              <a:t>Un assistant de recherche juridique pour le droit marocain. L'architecture est un RAG : le système retrouve dans le corpus les passages qui portent la réponse, puis rédige en citant ses sources.</a:t>
            </a:r>
          </a:p>
          <a:p>
            <a:pPr algn="l">
              <a:lnSpc>
                <a:spcPts val="2718"/>
              </a:lnSpc>
            </a:pPr>
          </a:p>
          <a:p>
            <a:pPr algn="l">
              <a:lnSpc>
                <a:spcPts val="2718"/>
              </a:lnSpc>
            </a:pPr>
            <a:r>
              <a:rPr lang="en-US" sz="1875" b="true">
                <a:solidFill>
                  <a:srgbClr val="2B3A32"/>
                </a:solidFill>
                <a:latin typeface="Arimo Bold"/>
                <a:ea typeface="Arimo Bold"/>
                <a:cs typeface="Arimo Bold"/>
                <a:sym typeface="Arimo Bold"/>
              </a:rPr>
              <a:t>Trois familles de documents : les textes du Bulletin Officiel, la jurisprudence publiée et les contrats types.</a:t>
            </a:r>
          </a:p>
          <a:p>
            <a:pPr algn="l">
              <a:lnSpc>
                <a:spcPts val="2718"/>
              </a:lnSpc>
            </a:pPr>
          </a:p>
          <a:p>
            <a:pPr algn="l">
              <a:lnSpc>
                <a:spcPts val="2718"/>
              </a:lnSpc>
            </a:pPr>
            <a:r>
              <a:rPr lang="en-US" sz="1875" b="true">
                <a:solidFill>
                  <a:srgbClr val="2B3A32"/>
                </a:solidFill>
                <a:latin typeface="Arimo Bold"/>
                <a:ea typeface="Arimo Bold"/>
                <a:cs typeface="Arimo Bold"/>
                <a:sym typeface="Arimo Bold"/>
              </a:rPr>
              <a:t>Une contrainte traverse tout le projet : la jurisprudence contient des personnes réelles — la loi 09-08 s'applique donc de bout en bout.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6477000" y="3200400"/>
            <a:ext cx="55245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M1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7200900" y="3105150"/>
            <a:ext cx="4286250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75" b="true">
                <a:solidFill>
                  <a:srgbClr val="1C3327"/>
                </a:solidFill>
                <a:latin typeface="Arimo Bold"/>
                <a:ea typeface="Arimo Bold"/>
                <a:cs typeface="Arimo Bold"/>
                <a:sym typeface="Arimo Bold"/>
              </a:rPr>
              <a:t>Douae Moussaoui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7200900" y="3543300"/>
            <a:ext cx="4333875" cy="59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6"/>
              </a:lnSpc>
            </a:pPr>
            <a:r>
              <a:rPr lang="en-US" sz="1774">
                <a:solidFill>
                  <a:srgbClr val="52655B"/>
                </a:solidFill>
                <a:latin typeface="Arimo"/>
                <a:ea typeface="Arimo"/>
                <a:cs typeface="Arimo"/>
                <a:sym typeface="Arimo"/>
              </a:rPr>
              <a:t>Data Engineer — pipeline de données et prétraitement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6477000" y="4800600"/>
            <a:ext cx="55245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M2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7200900" y="4705350"/>
            <a:ext cx="4286250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75" b="true">
                <a:solidFill>
                  <a:srgbClr val="1C3327"/>
                </a:solidFill>
                <a:latin typeface="Arimo Bold"/>
                <a:ea typeface="Arimo Bold"/>
                <a:cs typeface="Arimo Bold"/>
                <a:sym typeface="Arimo Bold"/>
              </a:rPr>
              <a:t>Imane Ibnchakroune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7200900" y="5143500"/>
            <a:ext cx="4333875" cy="59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6"/>
              </a:lnSpc>
            </a:pPr>
            <a:r>
              <a:rPr lang="en-US" sz="1774">
                <a:solidFill>
                  <a:srgbClr val="52655B"/>
                </a:solidFill>
                <a:latin typeface="Arimo"/>
                <a:ea typeface="Arimo"/>
                <a:cs typeface="Arimo"/>
                <a:sym typeface="Arimo"/>
              </a:rPr>
              <a:t>ML/LLM Engineer — modélisation et chaîne RAG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6477000" y="6400800"/>
            <a:ext cx="55245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M3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7200900" y="6305550"/>
            <a:ext cx="4286250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75" b="true">
                <a:solidFill>
                  <a:srgbClr val="1C3327"/>
                </a:solidFill>
                <a:latin typeface="Arimo Bold"/>
                <a:ea typeface="Arimo Bold"/>
                <a:cs typeface="Arimo Bold"/>
                <a:sym typeface="Arimo Bold"/>
              </a:rPr>
              <a:t>Amal El Guerdani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7200900" y="6743700"/>
            <a:ext cx="4333875" cy="59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6"/>
              </a:lnSpc>
            </a:pPr>
            <a:r>
              <a:rPr lang="en-US" sz="1774">
                <a:solidFill>
                  <a:srgbClr val="52655B"/>
                </a:solidFill>
                <a:latin typeface="Arimo"/>
                <a:ea typeface="Arimo"/>
                <a:cs typeface="Arimo"/>
                <a:sym typeface="Arimo"/>
              </a:rPr>
              <a:t>MLOps Engineer — expérimentation et registre de modèles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6477000" y="8001000"/>
            <a:ext cx="55245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M4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7200900" y="7905750"/>
            <a:ext cx="4286250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75" b="true">
                <a:solidFill>
                  <a:srgbClr val="1C3327"/>
                </a:solidFill>
                <a:latin typeface="Arimo Bold"/>
                <a:ea typeface="Arimo Bold"/>
                <a:cs typeface="Arimo Bold"/>
                <a:sym typeface="Arimo Bold"/>
              </a:rPr>
              <a:t>Salma El Ouarrate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7200900" y="8343900"/>
            <a:ext cx="4333875" cy="59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6"/>
              </a:lnSpc>
            </a:pPr>
            <a:r>
              <a:rPr lang="en-US" sz="1774">
                <a:solidFill>
                  <a:srgbClr val="52655B"/>
                </a:solidFill>
                <a:latin typeface="Arimo"/>
                <a:ea typeface="Arimo"/>
                <a:cs typeface="Arimo"/>
                <a:sym typeface="Arimo"/>
              </a:rPr>
              <a:t>DevOps / Platform Engineer — CI/CD et infrastructure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2249150" y="3200400"/>
            <a:ext cx="55245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M5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2973050" y="3105150"/>
            <a:ext cx="4286250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75" b="true">
                <a:solidFill>
                  <a:srgbClr val="1C3327"/>
                </a:solidFill>
                <a:latin typeface="Arimo Bold"/>
                <a:ea typeface="Arimo Bold"/>
                <a:cs typeface="Arimo Bold"/>
                <a:sym typeface="Arimo Bold"/>
              </a:rPr>
              <a:t>Nouhaila Fadli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2973050" y="3543300"/>
            <a:ext cx="4514850" cy="59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6"/>
              </a:lnSpc>
            </a:pPr>
            <a:r>
              <a:rPr lang="en-US" sz="1774">
                <a:solidFill>
                  <a:srgbClr val="52655B"/>
                </a:solidFill>
                <a:latin typeface="Arimo"/>
                <a:ea typeface="Arimo"/>
                <a:cs typeface="Arimo"/>
                <a:sym typeface="Arimo"/>
              </a:rPr>
              <a:t>Backend Engineer — API et couche de service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2249150" y="4800600"/>
            <a:ext cx="55245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M6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2973050" y="4705350"/>
            <a:ext cx="4286250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75" b="true">
                <a:solidFill>
                  <a:srgbClr val="1C3327"/>
                </a:solidFill>
                <a:latin typeface="Arimo Bold"/>
                <a:ea typeface="Arimo Bold"/>
                <a:cs typeface="Arimo Bold"/>
                <a:sym typeface="Arimo Bold"/>
              </a:rPr>
              <a:t>Oumaima Jeraidi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2973050" y="5143500"/>
            <a:ext cx="4333875" cy="59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6"/>
              </a:lnSpc>
            </a:pPr>
            <a:r>
              <a:rPr lang="en-US" sz="1774">
                <a:solidFill>
                  <a:srgbClr val="52655B"/>
                </a:solidFill>
                <a:latin typeface="Arimo"/>
                <a:ea typeface="Arimo"/>
                <a:cs typeface="Arimo"/>
                <a:sym typeface="Arimo"/>
              </a:rPr>
              <a:t>Frontend Engineer — interface et expérience utilisateur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2249150" y="6400800"/>
            <a:ext cx="55245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M7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2973050" y="6305550"/>
            <a:ext cx="4286250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75" b="true">
                <a:solidFill>
                  <a:srgbClr val="1C3327"/>
                </a:solidFill>
                <a:latin typeface="Arimo Bold"/>
                <a:ea typeface="Arimo Bold"/>
                <a:cs typeface="Arimo Bold"/>
                <a:sym typeface="Arimo Bold"/>
              </a:rPr>
              <a:t>Youssef El Alem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2973050" y="6743700"/>
            <a:ext cx="4333875" cy="59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6"/>
              </a:lnSpc>
            </a:pPr>
            <a:r>
              <a:rPr lang="en-US" sz="1774">
                <a:solidFill>
                  <a:srgbClr val="52655B"/>
                </a:solidFill>
                <a:latin typeface="Arimo"/>
                <a:ea typeface="Arimo"/>
                <a:cs typeface="Arimo"/>
                <a:sym typeface="Arimo"/>
              </a:rPr>
              <a:t>SRE / ML Observability — supervision et observabilité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2249150" y="8001000"/>
            <a:ext cx="55245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M8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2973050" y="7905750"/>
            <a:ext cx="4286250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75" b="true">
                <a:solidFill>
                  <a:srgbClr val="1C3327"/>
                </a:solidFill>
                <a:latin typeface="Arimo Bold"/>
                <a:ea typeface="Arimo Bold"/>
                <a:cs typeface="Arimo Bold"/>
                <a:sym typeface="Arimo Bold"/>
              </a:rPr>
              <a:t>Taha Kachmar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2973050" y="8343900"/>
            <a:ext cx="4333875" cy="59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6"/>
              </a:lnSpc>
            </a:pPr>
            <a:r>
              <a:rPr lang="en-US" sz="1774">
                <a:solidFill>
                  <a:srgbClr val="52655B"/>
                </a:solidFill>
                <a:latin typeface="Arimo"/>
                <a:ea typeface="Arimo"/>
                <a:cs typeface="Arimo"/>
                <a:sym typeface="Arimo"/>
              </a:rPr>
              <a:t>Security &amp; Compliance Officer — sécurité, gouvernance et conformité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5530341" y="9609220"/>
            <a:ext cx="2262702" cy="249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995"/>
              </a:lnSpc>
              <a:spcBef>
                <a:spcPct val="0"/>
              </a:spcBef>
            </a:pPr>
            <a:r>
              <a:rPr lang="en-US" sz="1425" strike="noStrike" u="none">
                <a:solidFill>
                  <a:srgbClr val="737875"/>
                </a:solidFill>
                <a:latin typeface="Arimo"/>
                <a:ea typeface="Arimo"/>
                <a:cs typeface="Arimo"/>
                <a:sym typeface="Arimo"/>
              </a:rPr>
              <a:t>02 / 19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530341" y="9647320"/>
            <a:ext cx="2262702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754"/>
              </a:lnSpc>
              <a:spcBef>
                <a:spcPct val="0"/>
              </a:spcBef>
            </a:pPr>
            <a:r>
              <a:rPr lang="en-US" sz="1462" strike="noStrike" u="none">
                <a:solidFill>
                  <a:srgbClr val="737875"/>
                </a:solidFill>
                <a:latin typeface="Segoe UI"/>
                <a:ea typeface="Segoe UI"/>
                <a:cs typeface="Segoe UI"/>
                <a:sym typeface="Segoe UI"/>
              </a:rPr>
              <a:t>03 / 19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935185" y="2573498"/>
            <a:ext cx="7111172" cy="5140003"/>
          </a:xfrm>
          <a:custGeom>
            <a:avLst/>
            <a:gdLst/>
            <a:ahLst/>
            <a:cxnLst/>
            <a:rect r="r" b="b" t="t" l="l"/>
            <a:pathLst>
              <a:path h="5140003" w="7111172">
                <a:moveTo>
                  <a:pt x="0" y="0"/>
                </a:moveTo>
                <a:lnTo>
                  <a:pt x="7111172" y="0"/>
                </a:lnTo>
                <a:lnTo>
                  <a:pt x="7111172" y="5140004"/>
                </a:lnTo>
                <a:lnTo>
                  <a:pt x="0" y="51400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73" r="0" b="-973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794059" y="1181769"/>
            <a:ext cx="7621951" cy="1091862"/>
            <a:chOff x="0" y="0"/>
            <a:chExt cx="2007428" cy="2875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07427" cy="287568"/>
            </a:xfrm>
            <a:custGeom>
              <a:avLst/>
              <a:gdLst/>
              <a:ahLst/>
              <a:cxnLst/>
              <a:rect r="r" b="b" t="t" l="l"/>
              <a:pathLst>
                <a:path h="287568" w="2007427">
                  <a:moveTo>
                    <a:pt x="0" y="0"/>
                  </a:moveTo>
                  <a:lnTo>
                    <a:pt x="2007427" y="0"/>
                  </a:lnTo>
                  <a:lnTo>
                    <a:pt x="2007427" y="287568"/>
                  </a:lnTo>
                  <a:lnTo>
                    <a:pt x="0" y="28756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007428" cy="373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sz="2399">
                  <a:solidFill>
                    <a:srgbClr val="000000"/>
                  </a:solidFill>
                  <a:latin typeface="Codec Pro"/>
                  <a:ea typeface="Codec Pro"/>
                  <a:cs typeface="Codec Pro"/>
                  <a:sym typeface="Codec Pro"/>
                </a:rPr>
                <a:t>dvc repro rejoue la chaîne entière, et 137 tests passent à chaque pull request.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530341" y="9647320"/>
            <a:ext cx="2262702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754"/>
              </a:lnSpc>
              <a:spcBef>
                <a:spcPct val="0"/>
              </a:spcBef>
            </a:pPr>
            <a:r>
              <a:rPr lang="en-US" sz="1462" strike="noStrike" u="none">
                <a:solidFill>
                  <a:srgbClr val="737875"/>
                </a:solidFill>
                <a:latin typeface="Segoe UI"/>
                <a:ea typeface="Segoe UI"/>
                <a:cs typeface="Segoe UI"/>
                <a:sym typeface="Segoe UI"/>
              </a:rPr>
              <a:t>04 / 19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63076" y="9599695"/>
            <a:ext cx="15796224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1500">
                <a:solidFill>
                  <a:srgbClr val="737875"/>
                </a:solidFill>
                <a:latin typeface="Arimo Bold"/>
                <a:ea typeface="Arimo Bold"/>
                <a:cs typeface="Arimo Bold"/>
                <a:sym typeface="Arimo Bold"/>
              </a:rPr>
              <a:t>Une précision : n</a:t>
            </a:r>
            <a:r>
              <a:rPr lang="en-US" b="true" sz="1500">
                <a:solidFill>
                  <a:srgbClr val="737875"/>
                </a:solidFill>
                <a:latin typeface="Arimo Bold"/>
                <a:ea typeface="Arimo Bold"/>
                <a:cs typeface="Arimo Bold"/>
                <a:sym typeface="Arimo Bold"/>
              </a:rPr>
              <a:t>otre corpus est synthétique, généré pour valider la chaîne — c'est déclaré dans notre Data Card. La collecte des documents réels demande d'abord une vérification juridique, et nous avons choisi de faire cette vérification avant d'écrire le code.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530341" y="9647320"/>
            <a:ext cx="2262702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754"/>
              </a:lnSpc>
              <a:spcBef>
                <a:spcPct val="0"/>
              </a:spcBef>
            </a:pPr>
            <a:r>
              <a:rPr lang="en-US" sz="1462" strike="noStrike" u="none">
                <a:solidFill>
                  <a:srgbClr val="737875"/>
                </a:solidFill>
                <a:latin typeface="Segoe UI"/>
                <a:ea typeface="Segoe UI"/>
                <a:cs typeface="Segoe UI"/>
                <a:sym typeface="Segoe UI"/>
              </a:rPr>
              <a:t>06 / 19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530341" y="9647320"/>
            <a:ext cx="2262702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754"/>
              </a:lnSpc>
              <a:spcBef>
                <a:spcPct val="0"/>
              </a:spcBef>
            </a:pPr>
            <a:r>
              <a:rPr lang="en-US" sz="1462" strike="noStrike" u="none">
                <a:solidFill>
                  <a:srgbClr val="737875"/>
                </a:solidFill>
                <a:latin typeface="Segoe UI"/>
                <a:ea typeface="Segoe UI"/>
                <a:cs typeface="Segoe UI"/>
                <a:sym typeface="Segoe UI"/>
              </a:rPr>
              <a:t>07 / 19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42671" y="3108817"/>
            <a:ext cx="3548167" cy="1440351"/>
          </a:xfrm>
          <a:custGeom>
            <a:avLst/>
            <a:gdLst/>
            <a:ahLst/>
            <a:cxnLst/>
            <a:rect r="r" b="b" t="t" l="l"/>
            <a:pathLst>
              <a:path h="1440351" w="3548167">
                <a:moveTo>
                  <a:pt x="0" y="0"/>
                </a:moveTo>
                <a:lnTo>
                  <a:pt x="3548167" y="0"/>
                </a:lnTo>
                <a:lnTo>
                  <a:pt x="3548167" y="1440352"/>
                </a:lnTo>
                <a:lnTo>
                  <a:pt x="0" y="14403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370243" y="0"/>
            <a:ext cx="9036301" cy="10287000"/>
            <a:chOff x="0" y="0"/>
            <a:chExt cx="12048401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048363" cy="13715949"/>
            </a:xfrm>
            <a:custGeom>
              <a:avLst/>
              <a:gdLst/>
              <a:ahLst/>
              <a:cxnLst/>
              <a:rect r="r" b="b" t="t" l="l"/>
              <a:pathLst>
                <a:path h="13715949" w="12048363">
                  <a:moveTo>
                    <a:pt x="0" y="0"/>
                  </a:moveTo>
                  <a:lnTo>
                    <a:pt x="12048363" y="0"/>
                  </a:lnTo>
                  <a:lnTo>
                    <a:pt x="12048363" y="13715949"/>
                  </a:lnTo>
                  <a:lnTo>
                    <a:pt x="0" y="13715949"/>
                  </a:lnTo>
                  <a:close/>
                </a:path>
              </a:pathLst>
            </a:custGeom>
            <a:solidFill>
              <a:srgbClr val="F4F4F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765802" y="582625"/>
            <a:ext cx="7935573" cy="1689916"/>
            <a:chOff x="0" y="0"/>
            <a:chExt cx="10580764" cy="22532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580751" cy="2253234"/>
            </a:xfrm>
            <a:custGeom>
              <a:avLst/>
              <a:gdLst/>
              <a:ahLst/>
              <a:cxnLst/>
              <a:rect r="r" b="b" t="t" l="l"/>
              <a:pathLst>
                <a:path h="2253234" w="10580751">
                  <a:moveTo>
                    <a:pt x="0" y="375539"/>
                  </a:moveTo>
                  <a:cubicBezTo>
                    <a:pt x="0" y="168148"/>
                    <a:pt x="168148" y="0"/>
                    <a:pt x="375539" y="0"/>
                  </a:cubicBezTo>
                  <a:lnTo>
                    <a:pt x="10205212" y="0"/>
                  </a:lnTo>
                  <a:cubicBezTo>
                    <a:pt x="10412603" y="0"/>
                    <a:pt x="10580751" y="168148"/>
                    <a:pt x="10580751" y="375539"/>
                  </a:cubicBezTo>
                  <a:lnTo>
                    <a:pt x="10580751" y="1877695"/>
                  </a:lnTo>
                  <a:cubicBezTo>
                    <a:pt x="10580751" y="2085086"/>
                    <a:pt x="10412603" y="2253234"/>
                    <a:pt x="10205212" y="2253234"/>
                  </a:cubicBezTo>
                  <a:lnTo>
                    <a:pt x="375539" y="2253234"/>
                  </a:lnTo>
                  <a:cubicBezTo>
                    <a:pt x="168148" y="2253234"/>
                    <a:pt x="0" y="2085086"/>
                    <a:pt x="0" y="1877695"/>
                  </a:cubicBezTo>
                  <a:close/>
                </a:path>
              </a:pathLst>
            </a:custGeom>
            <a:solidFill>
              <a:srgbClr val="F7F7F5"/>
            </a:solidFill>
            <a:ln w="15252" cap="sq">
              <a:solidFill>
                <a:srgbClr val="A5A5A0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972681" y="2640378"/>
            <a:ext cx="7636313" cy="3402929"/>
            <a:chOff x="0" y="0"/>
            <a:chExt cx="11343615" cy="505499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43640" cy="5054981"/>
            </a:xfrm>
            <a:custGeom>
              <a:avLst/>
              <a:gdLst/>
              <a:ahLst/>
              <a:cxnLst/>
              <a:rect r="r" b="b" t="t" l="l"/>
              <a:pathLst>
                <a:path h="5054981" w="11343640">
                  <a:moveTo>
                    <a:pt x="0" y="0"/>
                  </a:moveTo>
                  <a:lnTo>
                    <a:pt x="11343640" y="0"/>
                  </a:lnTo>
                  <a:lnTo>
                    <a:pt x="11343640" y="5054981"/>
                  </a:lnTo>
                  <a:lnTo>
                    <a:pt x="0" y="50549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220" r="0" b="-522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0005935" y="6293996"/>
            <a:ext cx="7253365" cy="3581537"/>
          </a:xfrm>
          <a:custGeom>
            <a:avLst/>
            <a:gdLst/>
            <a:ahLst/>
            <a:cxnLst/>
            <a:rect r="r" b="b" t="t" l="l"/>
            <a:pathLst>
              <a:path h="3581537" w="7253365">
                <a:moveTo>
                  <a:pt x="0" y="0"/>
                </a:moveTo>
                <a:lnTo>
                  <a:pt x="7253365" y="0"/>
                </a:lnTo>
                <a:lnTo>
                  <a:pt x="7253365" y="3581537"/>
                </a:lnTo>
                <a:lnTo>
                  <a:pt x="0" y="35815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96147" y="649357"/>
            <a:ext cx="7961500" cy="164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14"/>
              </a:lnSpc>
            </a:pPr>
            <a:r>
              <a:rPr lang="en-US" sz="5428" b="true">
                <a:solidFill>
                  <a:srgbClr val="184F3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M3 | Tracking &amp; Model</a:t>
            </a:r>
          </a:p>
          <a:p>
            <a:pPr algn="l">
              <a:lnSpc>
                <a:spcPts val="6514"/>
              </a:lnSpc>
            </a:pPr>
            <a:r>
              <a:rPr lang="en-US" sz="5428" b="true">
                <a:solidFill>
                  <a:srgbClr val="184F3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Registry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96147" y="2378926"/>
            <a:ext cx="8100927" cy="513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0A0A0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Amal El Guerdani — MLOps &amp; Évaluation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88324" y="2973095"/>
            <a:ext cx="7482145" cy="6798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3602">
                <a:solidFill>
                  <a:srgbClr val="0A0A0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• </a:t>
            </a:r>
            <a:r>
              <a:rPr lang="en-US" sz="3602" b="true">
                <a:solidFill>
                  <a:srgbClr val="0A0A0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Suivi : </a:t>
            </a:r>
            <a:r>
              <a:rPr lang="en-US" sz="3602">
                <a:solidFill>
                  <a:srgbClr val="0A0A0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MLflow centralisé via TrackingHook (intégration M2 → M3).</a:t>
            </a:r>
          </a:p>
          <a:p>
            <a:pPr algn="l">
              <a:lnSpc>
                <a:spcPts val="5764"/>
              </a:lnSpc>
            </a:pPr>
            <a:r>
              <a:rPr lang="en-US" sz="3602">
                <a:solidFill>
                  <a:srgbClr val="0A0A0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• </a:t>
            </a:r>
            <a:r>
              <a:rPr lang="en-US" sz="3602" b="true">
                <a:solidFill>
                  <a:srgbClr val="0A0A0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Évaluation : </a:t>
            </a:r>
            <a:r>
              <a:rPr lang="en-US" sz="3602">
                <a:solidFill>
                  <a:srgbClr val="0A0A0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cadre RAGAS et EvaluationRunner configurés.</a:t>
            </a:r>
          </a:p>
          <a:p>
            <a:pPr algn="l">
              <a:lnSpc>
                <a:spcPts val="4683"/>
              </a:lnSpc>
            </a:pPr>
            <a:r>
              <a:rPr lang="en-US" sz="3602">
                <a:solidFill>
                  <a:srgbClr val="0A0A0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• </a:t>
            </a:r>
            <a:r>
              <a:rPr lang="en-US" sz="3602" b="true">
                <a:solidFill>
                  <a:srgbClr val="0A0A0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Gouvernance : </a:t>
            </a:r>
            <a:r>
              <a:rPr lang="en-US" sz="3602">
                <a:solidFill>
                  <a:srgbClr val="0A0A0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Model Registry avec contrôles avant promotion et détection de régression.</a:t>
            </a:r>
          </a:p>
          <a:p>
            <a:pPr algn="l">
              <a:lnSpc>
                <a:spcPts val="5764"/>
              </a:lnSpc>
            </a:pPr>
            <a:r>
              <a:rPr lang="en-US" sz="3602">
                <a:solidFill>
                  <a:srgbClr val="0A0A0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• </a:t>
            </a:r>
            <a:r>
              <a:rPr lang="en-US" sz="3602" b="true">
                <a:solidFill>
                  <a:srgbClr val="0A0A0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Traçabilité stricte : </a:t>
            </a:r>
            <a:r>
              <a:rPr lang="en-US" sz="3602">
                <a:solidFill>
                  <a:srgbClr val="0A0A0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Model Cards rattachées à une dataset_version précise.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75412" y="873185"/>
            <a:ext cx="7625963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2"/>
              </a:lnSpc>
            </a:pPr>
            <a:r>
              <a:rPr lang="en-US" sz="3202" b="true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41 tests M3 réussis — v0.2.0</a:t>
            </a:r>
          </a:p>
          <a:p>
            <a:pPr algn="l">
              <a:lnSpc>
                <a:spcPts val="3842"/>
              </a:lnSpc>
            </a:pPr>
            <a:r>
              <a:rPr lang="en-US" sz="3202" b="true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Intégration vérifiée avec un run MLflow réel.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440479" y="9866008"/>
            <a:ext cx="521791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52"/>
              </a:lnSpc>
              <a:spcBef>
                <a:spcPct val="0"/>
              </a:spcBef>
            </a:pPr>
            <a:r>
              <a:rPr lang="en-US" b="true" sz="1460" strike="noStrike" u="none">
                <a:solidFill>
                  <a:srgbClr val="737875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08 / 19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96147" y="649357"/>
            <a:ext cx="14394339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54"/>
              </a:lnSpc>
            </a:pPr>
            <a:r>
              <a:rPr lang="en-US" sz="5378" b="true">
                <a:solidFill>
                  <a:srgbClr val="184F3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  M3 | Limites d’évaluation et règles de gouvernance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07951" y="2571102"/>
            <a:ext cx="4676299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0A0A0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Évaluations non réalisées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321308" y="2571102"/>
            <a:ext cx="689991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0A0A0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Décisions de gouvernance appliquées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35402" y="3279277"/>
            <a:ext cx="7069264" cy="500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2769" indent="-321385" lvl="1">
              <a:lnSpc>
                <a:spcPts val="5001"/>
              </a:lnSpc>
              <a:buFont typeface="Arial"/>
              <a:buChar char="•"/>
            </a:pPr>
            <a:r>
              <a:rPr lang="en-US" b="true" sz="2977" spc="32">
                <a:solidFill>
                  <a:srgbClr val="0A0A0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Benchmark expert : </a:t>
            </a:r>
            <a:r>
              <a:rPr lang="en-US" sz="2977" spc="32">
                <a:solidFill>
                  <a:srgbClr val="0A0A0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le benchmark « LLM-as-a-judge » sur 1 200 questions juridiques annotées par des experts est non réalisé.</a:t>
            </a:r>
          </a:p>
          <a:p>
            <a:pPr algn="l" marL="642769" indent="-321385" lvl="1">
              <a:lnSpc>
                <a:spcPts val="5001"/>
              </a:lnSpc>
              <a:buFont typeface="Arial"/>
              <a:buChar char="•"/>
            </a:pPr>
            <a:r>
              <a:rPr lang="en-US" sz="2977" spc="32">
                <a:solidFill>
                  <a:srgbClr val="0A0A0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b="true" sz="2977" spc="32">
                <a:solidFill>
                  <a:srgbClr val="0A0A0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Validation technique : </a:t>
            </a:r>
            <a:r>
              <a:rPr lang="en-US" sz="2977" spc="32">
                <a:solidFill>
                  <a:srgbClr val="0A0A0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le test d’intégration valide le pipeline d’évaluation, mais ne constitue pas un benchmark juridique expert.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773431" y="3422152"/>
            <a:ext cx="7069264" cy="448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2769" indent="-321385" lvl="1">
              <a:lnSpc>
                <a:spcPts val="3572"/>
              </a:lnSpc>
              <a:buFont typeface="Arial"/>
              <a:buChar char="•"/>
            </a:pPr>
            <a:r>
              <a:rPr lang="en-US" b="true" sz="2977" spc="32">
                <a:solidFill>
                  <a:srgbClr val="0A0A0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Confidentialité : </a:t>
            </a:r>
            <a:r>
              <a:rPr lang="en-US" sz="2977" spc="32">
                <a:solidFill>
                  <a:srgbClr val="0A0A0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aucune question, réponse ou contexte juridique brut n’est enregistré dans MLflow.</a:t>
            </a:r>
          </a:p>
          <a:p>
            <a:pPr algn="l">
              <a:lnSpc>
                <a:spcPts val="3572"/>
              </a:lnSpc>
            </a:pPr>
          </a:p>
          <a:p>
            <a:pPr algn="l" marL="642769" indent="-321385" lvl="1">
              <a:lnSpc>
                <a:spcPts val="3572"/>
              </a:lnSpc>
              <a:buFont typeface="Arial"/>
              <a:buChar char="•"/>
            </a:pPr>
            <a:r>
              <a:rPr lang="en-US" b="true" sz="2977" spc="32">
                <a:solidFill>
                  <a:srgbClr val="0A0A0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Intégrité : </a:t>
            </a:r>
            <a:r>
              <a:rPr lang="en-US" sz="2977" spc="32">
                <a:solidFill>
                  <a:srgbClr val="0A0A0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aucun corpus artificiel n’est présenté comme une annotation experte.</a:t>
            </a:r>
          </a:p>
          <a:p>
            <a:pPr algn="l">
              <a:lnSpc>
                <a:spcPts val="3572"/>
              </a:lnSpc>
            </a:pPr>
          </a:p>
          <a:p>
            <a:pPr algn="l" marL="642769" indent="-321385" lvl="1">
              <a:lnSpc>
                <a:spcPts val="3572"/>
              </a:lnSpc>
              <a:buFont typeface="Arial"/>
              <a:buChar char="•"/>
            </a:pPr>
            <a:r>
              <a:rPr lang="en-US" sz="2977" spc="32">
                <a:solidFill>
                  <a:srgbClr val="0A0A0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b="true" sz="2977" spc="32">
                <a:solidFill>
                  <a:srgbClr val="0A0A0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Model Card : </a:t>
            </a:r>
            <a:r>
              <a:rPr lang="en-US" sz="2977" spc="32">
                <a:solidFill>
                  <a:srgbClr val="0A0A0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une limitation est obligatoire lors de sa génération dans build_model_card().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440479" y="9866008"/>
            <a:ext cx="521791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52"/>
              </a:lnSpc>
              <a:spcBef>
                <a:spcPct val="0"/>
              </a:spcBef>
            </a:pPr>
            <a:r>
              <a:rPr lang="en-US" b="true" sz="1460" strike="noStrike" u="none">
                <a:solidFill>
                  <a:srgbClr val="737875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09 / 19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38912"/>
            <a:ext cx="16870680" cy="1031905"/>
            <a:chOff x="0" y="0"/>
            <a:chExt cx="22494240" cy="13758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94239" cy="1375873"/>
            </a:xfrm>
            <a:custGeom>
              <a:avLst/>
              <a:gdLst/>
              <a:ahLst/>
              <a:cxnLst/>
              <a:rect r="r" b="b" t="t" l="l"/>
              <a:pathLst>
                <a:path h="1375873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1375873"/>
                  </a:lnTo>
                  <a:lnTo>
                    <a:pt x="0" y="13758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5363" r="0" b="-26176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494240" cy="13853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19"/>
                </a:lnSpc>
              </a:pPr>
              <a:r>
                <a:rPr lang="en-US" b="true" sz="5349">
                  <a:solidFill>
                    <a:srgbClr val="184F34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M4 | Base DevOps automatisée et sécurisée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" y="1303020"/>
            <a:ext cx="16870680" cy="411480"/>
            <a:chOff x="0" y="0"/>
            <a:chExt cx="2249424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94239" cy="548640"/>
            </a:xfrm>
            <a:custGeom>
              <a:avLst/>
              <a:gdLst/>
              <a:ahLst/>
              <a:cxnLst/>
              <a:rect r="r" b="b" t="t" l="l"/>
              <a:pathLst>
                <a:path h="54864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48886" r="0" b="-74888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4942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i="true">
                  <a:solidFill>
                    <a:srgbClr val="666666"/>
                  </a:solidFill>
                  <a:latin typeface="Roboto Condensed Italics"/>
                  <a:ea typeface="Roboto Condensed Italics"/>
                  <a:cs typeface="Roboto Condensed Italics"/>
                  <a:sym typeface="Roboto Condensed Italics"/>
                </a:rPr>
                <a:t>Salma El Ouarrate — Platform Engineering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42581" y="2115136"/>
            <a:ext cx="192024" cy="232573"/>
            <a:chOff x="0" y="0"/>
            <a:chExt cx="256032" cy="3100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032" cy="310098"/>
            </a:xfrm>
            <a:custGeom>
              <a:avLst/>
              <a:gdLst/>
              <a:ahLst/>
              <a:cxnLst/>
              <a:rect r="r" b="b" t="t" l="l"/>
              <a:pathLst>
                <a:path h="310098" w="256032">
                  <a:moveTo>
                    <a:pt x="0" y="66450"/>
                  </a:moveTo>
                  <a:cubicBezTo>
                    <a:pt x="0" y="29687"/>
                    <a:pt x="24511" y="0"/>
                    <a:pt x="54864" y="0"/>
                  </a:cubicBezTo>
                  <a:lnTo>
                    <a:pt x="201168" y="0"/>
                  </a:lnTo>
                  <a:cubicBezTo>
                    <a:pt x="231521" y="0"/>
                    <a:pt x="256032" y="29687"/>
                    <a:pt x="256032" y="66450"/>
                  </a:cubicBezTo>
                  <a:lnTo>
                    <a:pt x="256032" y="243648"/>
                  </a:lnTo>
                  <a:cubicBezTo>
                    <a:pt x="256032" y="280411"/>
                    <a:pt x="231521" y="310098"/>
                    <a:pt x="201168" y="310098"/>
                  </a:cubicBezTo>
                  <a:lnTo>
                    <a:pt x="54864" y="310098"/>
                  </a:lnTo>
                  <a:cubicBezTo>
                    <a:pt x="24511" y="310098"/>
                    <a:pt x="0" y="280411"/>
                    <a:pt x="0" y="243648"/>
                  </a:cubicBezTo>
                  <a:close/>
                </a:path>
              </a:pathLst>
            </a:custGeom>
            <a:solidFill>
              <a:srgbClr val="1B5E3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99197" y="1982237"/>
            <a:ext cx="7324344" cy="735330"/>
            <a:chOff x="0" y="0"/>
            <a:chExt cx="9765792" cy="9804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765792" cy="980440"/>
            </a:xfrm>
            <a:custGeom>
              <a:avLst/>
              <a:gdLst/>
              <a:ahLst/>
              <a:cxnLst/>
              <a:rect r="r" b="b" t="t" l="l"/>
              <a:pathLst>
                <a:path h="980440" w="9765792">
                  <a:moveTo>
                    <a:pt x="0" y="0"/>
                  </a:moveTo>
                  <a:lnTo>
                    <a:pt x="9765792" y="0"/>
                  </a:lnTo>
                  <a:lnTo>
                    <a:pt x="9765792" y="980440"/>
                  </a:lnTo>
                  <a:lnTo>
                    <a:pt x="0" y="980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6103" r="0" b="-12206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9765792" cy="989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49" b="true">
                  <a:solidFill>
                    <a:srgbClr val="14432B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CI — GitHub Actions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579741" y="2671559"/>
            <a:ext cx="754380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9581" indent="-239790" lvl="1">
              <a:lnSpc>
                <a:spcPts val="3179"/>
              </a:lnSpc>
              <a:buFont typeface="Arial"/>
              <a:buChar char="•"/>
            </a:pPr>
            <a:r>
              <a:rPr lang="en-US" sz="2649">
                <a:solidFill>
                  <a:srgbClr val="1F1F1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Déclenchée sur Push / Pull Request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7145000" y="9806940"/>
            <a:ext cx="960120" cy="411480"/>
            <a:chOff x="0" y="0"/>
            <a:chExt cx="128016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8016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28016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marL="0" indent="0" lvl="0">
                <a:lnSpc>
                  <a:spcPts val="1859"/>
                </a:lnSpc>
                <a:spcBef>
                  <a:spcPct val="0"/>
                </a:spcBef>
              </a:pPr>
              <a:r>
                <a:rPr lang="en-US" sz="1549" strike="noStrike" u="none">
                  <a:solidFill>
                    <a:srgbClr val="99999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 / 19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74001" y="3804180"/>
            <a:ext cx="192024" cy="192024"/>
            <a:chOff x="0" y="0"/>
            <a:chExt cx="256032" cy="25603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01168" y="0"/>
                  </a:lnTo>
                  <a:cubicBezTo>
                    <a:pt x="231521" y="0"/>
                    <a:pt x="256032" y="24511"/>
                    <a:pt x="256032" y="54864"/>
                  </a:cubicBezTo>
                  <a:lnTo>
                    <a:pt x="256032" y="201168"/>
                  </a:lnTo>
                  <a:cubicBezTo>
                    <a:pt x="256032" y="231521"/>
                    <a:pt x="231521" y="256032"/>
                    <a:pt x="201168" y="256032"/>
                  </a:cubicBezTo>
                  <a:lnTo>
                    <a:pt x="54864" y="256032"/>
                  </a:lnTo>
                  <a:cubicBezTo>
                    <a:pt x="24511" y="256032"/>
                    <a:pt x="0" y="231521"/>
                    <a:pt x="0" y="201168"/>
                  </a:cubicBezTo>
                  <a:close/>
                </a:path>
              </a:pathLst>
            </a:custGeom>
            <a:solidFill>
              <a:srgbClr val="1B5E3A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730617" y="3694452"/>
            <a:ext cx="7324344" cy="630936"/>
            <a:chOff x="0" y="0"/>
            <a:chExt cx="9765792" cy="84124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765792" cy="841248"/>
            </a:xfrm>
            <a:custGeom>
              <a:avLst/>
              <a:gdLst/>
              <a:ahLst/>
              <a:cxnLst/>
              <a:rect r="r" b="b" t="t" l="l"/>
              <a:pathLst>
                <a:path h="841248" w="9765792">
                  <a:moveTo>
                    <a:pt x="0" y="0"/>
                  </a:moveTo>
                  <a:lnTo>
                    <a:pt x="9765792" y="0"/>
                  </a:lnTo>
                  <a:lnTo>
                    <a:pt x="9765792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3587" r="0" b="-15880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9765792" cy="8507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49" b="true">
                  <a:solidFill>
                    <a:srgbClr val="14432B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CD — Continuous Delivery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8777822" y="1508760"/>
            <a:ext cx="8027416" cy="4079176"/>
          </a:xfrm>
          <a:custGeom>
            <a:avLst/>
            <a:gdLst/>
            <a:ahLst/>
            <a:cxnLst/>
            <a:rect r="r" b="b" t="t" l="l"/>
            <a:pathLst>
              <a:path h="4079176" w="8027416">
                <a:moveTo>
                  <a:pt x="0" y="0"/>
                </a:moveTo>
                <a:lnTo>
                  <a:pt x="8027416" y="0"/>
                </a:lnTo>
                <a:lnTo>
                  <a:pt x="8027416" y="4079176"/>
                </a:lnTo>
                <a:lnTo>
                  <a:pt x="0" y="40791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442581" y="4315863"/>
            <a:ext cx="7543800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9581" indent="-239790" lvl="1">
              <a:lnSpc>
                <a:spcPts val="3179"/>
              </a:lnSpc>
              <a:buFont typeface="Arial"/>
              <a:buChar char="•"/>
            </a:pPr>
            <a:r>
              <a:rPr lang="en-US" sz="2649">
                <a:solidFill>
                  <a:srgbClr val="1F1F1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Pus</a:t>
            </a:r>
            <a:r>
              <a:rPr lang="en-US" sz="2649">
                <a:solidFill>
                  <a:srgbClr val="1F1F1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 sur main → Build Docker → Publication GHCR</a:t>
            </a:r>
          </a:p>
          <a:p>
            <a:pPr algn="l" marL="479581" indent="-239790" lvl="1">
              <a:lnSpc>
                <a:spcPts val="3179"/>
              </a:lnSpc>
              <a:buFont typeface="Arial"/>
              <a:buChar char="•"/>
            </a:pPr>
            <a:r>
              <a:rPr lang="en-US" sz="2649">
                <a:solidFill>
                  <a:srgbClr val="1F1F1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GITHUB_TOKEN • ghcr.io/cloudmind-group/assistant-juridique-mlops:latest</a:t>
            </a:r>
          </a:p>
          <a:p>
            <a:pPr algn="l">
              <a:lnSpc>
                <a:spcPts val="3179"/>
              </a:lnSpc>
            </a:pPr>
          </a:p>
        </p:txBody>
      </p:sp>
      <p:grpSp>
        <p:nvGrpSpPr>
          <p:cNvPr name="Group 24" id="24"/>
          <p:cNvGrpSpPr/>
          <p:nvPr/>
        </p:nvGrpSpPr>
        <p:grpSpPr>
          <a:xfrm rot="0">
            <a:off x="374001" y="6427365"/>
            <a:ext cx="192024" cy="192024"/>
            <a:chOff x="0" y="0"/>
            <a:chExt cx="256032" cy="25603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01168" y="0"/>
                  </a:lnTo>
                  <a:cubicBezTo>
                    <a:pt x="231521" y="0"/>
                    <a:pt x="256032" y="24511"/>
                    <a:pt x="256032" y="54864"/>
                  </a:cubicBezTo>
                  <a:lnTo>
                    <a:pt x="256032" y="201168"/>
                  </a:lnTo>
                  <a:cubicBezTo>
                    <a:pt x="256032" y="231521"/>
                    <a:pt x="231521" y="256032"/>
                    <a:pt x="201168" y="256032"/>
                  </a:cubicBezTo>
                  <a:lnTo>
                    <a:pt x="54864" y="256032"/>
                  </a:lnTo>
                  <a:cubicBezTo>
                    <a:pt x="24511" y="256032"/>
                    <a:pt x="0" y="231521"/>
                    <a:pt x="0" y="201168"/>
                  </a:cubicBezTo>
                  <a:close/>
                </a:path>
              </a:pathLst>
            </a:custGeom>
            <a:solidFill>
              <a:srgbClr val="1B5E3A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30617" y="6317637"/>
            <a:ext cx="7324344" cy="607125"/>
            <a:chOff x="0" y="0"/>
            <a:chExt cx="9765792" cy="8095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765792" cy="809500"/>
            </a:xfrm>
            <a:custGeom>
              <a:avLst/>
              <a:gdLst/>
              <a:ahLst/>
              <a:cxnLst/>
              <a:rect r="r" b="b" t="t" l="l"/>
              <a:pathLst>
                <a:path h="809500" w="9765792">
                  <a:moveTo>
                    <a:pt x="0" y="0"/>
                  </a:moveTo>
                  <a:lnTo>
                    <a:pt x="9765792" y="0"/>
                  </a:lnTo>
                  <a:lnTo>
                    <a:pt x="9765792" y="809500"/>
                  </a:lnTo>
                  <a:lnTo>
                    <a:pt x="0" y="8095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1179" r="0" b="-16895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9765792" cy="819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49" b="true">
                  <a:solidFill>
                    <a:srgbClr val="14432B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Conteneurisation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8777822" y="5881179"/>
            <a:ext cx="8241332" cy="3682187"/>
          </a:xfrm>
          <a:custGeom>
            <a:avLst/>
            <a:gdLst/>
            <a:ahLst/>
            <a:cxnLst/>
            <a:rect r="r" b="b" t="t" l="l"/>
            <a:pathLst>
              <a:path h="3682187" w="8241332">
                <a:moveTo>
                  <a:pt x="0" y="0"/>
                </a:moveTo>
                <a:lnTo>
                  <a:pt x="8241332" y="0"/>
                </a:lnTo>
                <a:lnTo>
                  <a:pt x="8241332" y="3682187"/>
                </a:lnTo>
                <a:lnTo>
                  <a:pt x="0" y="36821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" t="0" r="-10833" b="-9942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442581" y="6939048"/>
            <a:ext cx="7543800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9581" indent="-239790" lvl="1">
              <a:lnSpc>
                <a:spcPts val="3179"/>
              </a:lnSpc>
              <a:buFont typeface="Arial"/>
              <a:buChar char="•"/>
            </a:pPr>
            <a:r>
              <a:rPr lang="en-US" sz="2649">
                <a:solidFill>
                  <a:srgbClr val="1F1F1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Dockerfile multi-stage</a:t>
            </a:r>
          </a:p>
          <a:p>
            <a:pPr algn="l" marL="479581" indent="-239790" lvl="1">
              <a:lnSpc>
                <a:spcPts val="3179"/>
              </a:lnSpc>
              <a:buFont typeface="Arial"/>
              <a:buChar char="•"/>
            </a:pPr>
            <a:r>
              <a:rPr lang="en-US" sz="2649">
                <a:solidFill>
                  <a:srgbClr val="1F1F1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Python 3.11</a:t>
            </a:r>
          </a:p>
          <a:p>
            <a:pPr algn="l" marL="479581" indent="-239790" lvl="1">
              <a:lnSpc>
                <a:spcPts val="3179"/>
              </a:lnSpc>
              <a:buFont typeface="Arial"/>
              <a:buChar char="•"/>
            </a:pPr>
            <a:r>
              <a:rPr lang="en-US" sz="2649">
                <a:solidFill>
                  <a:srgbClr val="1F1F1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Utilisateur non-root (appuser)</a:t>
            </a:r>
          </a:p>
          <a:p>
            <a:pPr algn="l" marL="479581" indent="-239790" lvl="1">
              <a:lnSpc>
                <a:spcPts val="3179"/>
              </a:lnSpc>
              <a:buFont typeface="Arial"/>
              <a:buChar char="•"/>
            </a:pPr>
            <a:r>
              <a:rPr lang="en-US" sz="2649">
                <a:solidFill>
                  <a:srgbClr val="1F1F1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Tesseract OCR FR/AR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87716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201135" y="1168000"/>
            <a:ext cx="242669" cy="247356"/>
            <a:chOff x="0" y="0"/>
            <a:chExt cx="63913" cy="6514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913" cy="65147"/>
            </a:xfrm>
            <a:custGeom>
              <a:avLst/>
              <a:gdLst/>
              <a:ahLst/>
              <a:cxnLst/>
              <a:rect r="r" b="b" t="t" l="l"/>
              <a:pathLst>
                <a:path h="65147" w="63913">
                  <a:moveTo>
                    <a:pt x="0" y="0"/>
                  </a:moveTo>
                  <a:lnTo>
                    <a:pt x="63913" y="0"/>
                  </a:lnTo>
                  <a:lnTo>
                    <a:pt x="63913" y="65147"/>
                  </a:lnTo>
                  <a:lnTo>
                    <a:pt x="0" y="65147"/>
                  </a:lnTo>
                  <a:close/>
                </a:path>
              </a:pathLst>
            </a:custGeom>
            <a:solidFill>
              <a:srgbClr val="FFFFF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63913" cy="74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931543" y="1108770"/>
            <a:ext cx="202597" cy="306586"/>
            <a:chOff x="0" y="0"/>
            <a:chExt cx="53359" cy="8074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359" cy="80747"/>
            </a:xfrm>
            <a:custGeom>
              <a:avLst/>
              <a:gdLst/>
              <a:ahLst/>
              <a:cxnLst/>
              <a:rect r="r" b="b" t="t" l="l"/>
              <a:pathLst>
                <a:path h="80747" w="53359">
                  <a:moveTo>
                    <a:pt x="0" y="0"/>
                  </a:moveTo>
                  <a:lnTo>
                    <a:pt x="53359" y="0"/>
                  </a:lnTo>
                  <a:lnTo>
                    <a:pt x="53359" y="80747"/>
                  </a:lnTo>
                  <a:lnTo>
                    <a:pt x="0" y="80747"/>
                  </a:lnTo>
                  <a:close/>
                </a:path>
              </a:pathLst>
            </a:custGeom>
            <a:solidFill>
              <a:srgbClr val="FFFFF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53359" cy="90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7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0449925" y="2595833"/>
            <a:ext cx="7063210" cy="3268418"/>
          </a:xfrm>
          <a:custGeom>
            <a:avLst/>
            <a:gdLst/>
            <a:ahLst/>
            <a:cxnLst/>
            <a:rect r="r" b="b" t="t" l="l"/>
            <a:pathLst>
              <a:path h="3268418" w="7063210">
                <a:moveTo>
                  <a:pt x="0" y="0"/>
                </a:moveTo>
                <a:lnTo>
                  <a:pt x="7063210" y="0"/>
                </a:lnTo>
                <a:lnTo>
                  <a:pt x="7063210" y="3268418"/>
                </a:lnTo>
                <a:lnTo>
                  <a:pt x="0" y="32684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43" t="-1829" r="-243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449925" y="7010297"/>
            <a:ext cx="7399374" cy="2316187"/>
          </a:xfrm>
          <a:custGeom>
            <a:avLst/>
            <a:gdLst/>
            <a:ahLst/>
            <a:cxnLst/>
            <a:rect r="r" b="b" t="t" l="l"/>
            <a:pathLst>
              <a:path h="2316187" w="7399374">
                <a:moveTo>
                  <a:pt x="0" y="0"/>
                </a:moveTo>
                <a:lnTo>
                  <a:pt x="7399374" y="0"/>
                </a:lnTo>
                <a:lnTo>
                  <a:pt x="7399374" y="2316187"/>
                </a:lnTo>
                <a:lnTo>
                  <a:pt x="0" y="23161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67" t="-1852" r="0" b="-52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0057505" y="5864251"/>
            <a:ext cx="7735538" cy="1146047"/>
            <a:chOff x="0" y="0"/>
            <a:chExt cx="2037343" cy="30183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37343" cy="301839"/>
            </a:xfrm>
            <a:custGeom>
              <a:avLst/>
              <a:gdLst/>
              <a:ahLst/>
              <a:cxnLst/>
              <a:rect r="r" b="b" t="t" l="l"/>
              <a:pathLst>
                <a:path h="301839" w="2037343">
                  <a:moveTo>
                    <a:pt x="0" y="0"/>
                  </a:moveTo>
                  <a:lnTo>
                    <a:pt x="2037343" y="0"/>
                  </a:lnTo>
                  <a:lnTo>
                    <a:pt x="2037343" y="301839"/>
                  </a:lnTo>
                  <a:lnTo>
                    <a:pt x="0" y="30183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2037343" cy="311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66247" y="9326484"/>
            <a:ext cx="8018181" cy="960516"/>
            <a:chOff x="0" y="0"/>
            <a:chExt cx="2111784" cy="25297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11784" cy="252975"/>
            </a:xfrm>
            <a:custGeom>
              <a:avLst/>
              <a:gdLst/>
              <a:ahLst/>
              <a:cxnLst/>
              <a:rect r="r" b="b" t="t" l="l"/>
              <a:pathLst>
                <a:path h="252975" w="2111784">
                  <a:moveTo>
                    <a:pt x="0" y="0"/>
                  </a:moveTo>
                  <a:lnTo>
                    <a:pt x="2111784" y="0"/>
                  </a:lnTo>
                  <a:lnTo>
                    <a:pt x="2111784" y="252975"/>
                  </a:lnTo>
                  <a:lnTo>
                    <a:pt x="0" y="25297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111784" cy="262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7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1230910" y="1009650"/>
            <a:ext cx="18311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9"/>
              </a:lnSpc>
              <a:spcBef>
                <a:spcPct val="0"/>
              </a:spcBef>
            </a:pPr>
            <a:r>
              <a:rPr lang="en-US" b="true" sz="2849">
                <a:solidFill>
                  <a:srgbClr val="0D2D1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530341" y="9647320"/>
            <a:ext cx="2262702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754"/>
              </a:lnSpc>
              <a:spcBef>
                <a:spcPct val="0"/>
              </a:spcBef>
            </a:pPr>
            <a:r>
              <a:rPr lang="en-US" sz="1462" strike="noStrike" u="none">
                <a:solidFill>
                  <a:srgbClr val="737875"/>
                </a:solidFill>
                <a:latin typeface="Segoe UI"/>
                <a:ea typeface="Segoe UI"/>
                <a:cs typeface="Segoe UI"/>
                <a:sym typeface="Segoe UI"/>
              </a:rPr>
              <a:t>11 / 19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244147"/>
            <a:chOff x="0" y="0"/>
            <a:chExt cx="24379238" cy="136588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658850"/>
            </a:xfrm>
            <a:custGeom>
              <a:avLst/>
              <a:gdLst/>
              <a:ahLst/>
              <a:cxnLst/>
              <a:rect r="r" b="b" t="t" l="l"/>
              <a:pathLst>
                <a:path h="13658850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658850"/>
                  </a:lnTo>
                  <a:lnTo>
                    <a:pt x="0" y="13658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90" t="0" r="-19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45547" y="8825465"/>
            <a:ext cx="11205903" cy="865670"/>
            <a:chOff x="0" y="0"/>
            <a:chExt cx="2951349" cy="2279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51349" cy="227995"/>
            </a:xfrm>
            <a:custGeom>
              <a:avLst/>
              <a:gdLst/>
              <a:ahLst/>
              <a:cxnLst/>
              <a:rect r="r" b="b" t="t" l="l"/>
              <a:pathLst>
                <a:path h="227995" w="2951349">
                  <a:moveTo>
                    <a:pt x="0" y="0"/>
                  </a:moveTo>
                  <a:lnTo>
                    <a:pt x="2951349" y="0"/>
                  </a:lnTo>
                  <a:lnTo>
                    <a:pt x="2951349" y="227995"/>
                  </a:lnTo>
                  <a:lnTo>
                    <a:pt x="0" y="22799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951349" cy="2279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4919"/>
                </a:lnSpc>
              </a:pPr>
              <a:r>
                <a:rPr lang="en-US" sz="4099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d'en esquisser plusieurs sans robustesse.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5557131" y="9830733"/>
            <a:ext cx="2262702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754"/>
              </a:lnSpc>
              <a:spcBef>
                <a:spcPct val="0"/>
              </a:spcBef>
            </a:pPr>
            <a:r>
              <a:rPr lang="en-US" sz="1462">
                <a:solidFill>
                  <a:srgbClr val="737875"/>
                </a:solidFill>
                <a:latin typeface="Segoe UI"/>
                <a:ea typeface="Segoe UI"/>
                <a:cs typeface="Segoe UI"/>
                <a:sym typeface="Segoe UI"/>
              </a:rPr>
              <a:t>12 </a:t>
            </a:r>
            <a:r>
              <a:rPr lang="en-US" sz="1462" strike="noStrike" u="none">
                <a:solidFill>
                  <a:srgbClr val="737875"/>
                </a:solidFill>
                <a:latin typeface="Segoe UI"/>
                <a:ea typeface="Segoe UI"/>
                <a:cs typeface="Segoe UI"/>
                <a:sym typeface="Segoe UI"/>
              </a:rPr>
              <a:t>/ 19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8217238" y="2662173"/>
            <a:ext cx="7538686" cy="3510752"/>
          </a:xfrm>
          <a:custGeom>
            <a:avLst/>
            <a:gdLst/>
            <a:ahLst/>
            <a:cxnLst/>
            <a:rect r="r" b="b" t="t" l="l"/>
            <a:pathLst>
              <a:path h="3510752" w="7538686">
                <a:moveTo>
                  <a:pt x="0" y="0"/>
                </a:moveTo>
                <a:lnTo>
                  <a:pt x="7538686" y="0"/>
                </a:lnTo>
                <a:lnTo>
                  <a:pt x="7538686" y="3510752"/>
                </a:lnTo>
                <a:lnTo>
                  <a:pt x="0" y="35107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553" r="0" b="0"/>
            </a:stretch>
          </a:blipFill>
          <a:ln w="38100" cap="sq">
            <a:solidFill>
              <a:srgbClr val="222D25"/>
            </a:solidFill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1986581" y="3360695"/>
            <a:ext cx="5881896" cy="2812230"/>
          </a:xfrm>
          <a:custGeom>
            <a:avLst/>
            <a:gdLst/>
            <a:ahLst/>
            <a:cxnLst/>
            <a:rect r="r" b="b" t="t" l="l"/>
            <a:pathLst>
              <a:path h="2812230" w="5881896">
                <a:moveTo>
                  <a:pt x="0" y="0"/>
                </a:moveTo>
                <a:lnTo>
                  <a:pt x="5881896" y="0"/>
                </a:lnTo>
                <a:lnTo>
                  <a:pt x="5881896" y="2812230"/>
                </a:lnTo>
                <a:lnTo>
                  <a:pt x="0" y="28122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830" t="-5492" r="-548" b="0"/>
            </a:stretch>
          </a:blipFill>
          <a:ln w="38100" cap="sq">
            <a:solidFill>
              <a:srgbClr val="364139"/>
            </a:solidFill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9913367" y="6301044"/>
            <a:ext cx="7955111" cy="3579937"/>
          </a:xfrm>
          <a:custGeom>
            <a:avLst/>
            <a:gdLst/>
            <a:ahLst/>
            <a:cxnLst/>
            <a:rect r="r" b="b" t="t" l="l"/>
            <a:pathLst>
              <a:path h="3579937" w="7955111">
                <a:moveTo>
                  <a:pt x="0" y="0"/>
                </a:moveTo>
                <a:lnTo>
                  <a:pt x="7955110" y="0"/>
                </a:lnTo>
                <a:lnTo>
                  <a:pt x="7955110" y="3579937"/>
                </a:lnTo>
                <a:lnTo>
                  <a:pt x="0" y="35799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6304" r="0" b="0"/>
            </a:stretch>
          </a:blipFill>
          <a:ln w="38100" cap="sq">
            <a:solidFill>
              <a:srgbClr val="12291D"/>
            </a:solidFill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15530341" y="9647320"/>
            <a:ext cx="2262702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754"/>
              </a:lnSpc>
              <a:spcBef>
                <a:spcPct val="0"/>
              </a:spcBef>
            </a:pPr>
            <a:r>
              <a:rPr lang="en-US" sz="1462" strike="noStrike" u="none">
                <a:solidFill>
                  <a:srgbClr val="737875"/>
                </a:solidFill>
                <a:latin typeface="Segoe UI"/>
                <a:ea typeface="Segoe UI"/>
                <a:cs typeface="Segoe UI"/>
                <a:sym typeface="Segoe UI"/>
              </a:rPr>
              <a:t>13 / 19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57889" y="2697764"/>
            <a:ext cx="10075617" cy="4355682"/>
          </a:xfrm>
          <a:custGeom>
            <a:avLst/>
            <a:gdLst/>
            <a:ahLst/>
            <a:cxnLst/>
            <a:rect r="r" b="b" t="t" l="l"/>
            <a:pathLst>
              <a:path h="4355682" w="10075617">
                <a:moveTo>
                  <a:pt x="0" y="0"/>
                </a:moveTo>
                <a:lnTo>
                  <a:pt x="10075617" y="0"/>
                </a:lnTo>
                <a:lnTo>
                  <a:pt x="10075617" y="4355682"/>
                </a:lnTo>
                <a:lnTo>
                  <a:pt x="0" y="435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95" t="-9668" r="0" b="-320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8457889" cy="3739730"/>
          </a:xfrm>
          <a:custGeom>
            <a:avLst/>
            <a:gdLst/>
            <a:ahLst/>
            <a:cxnLst/>
            <a:rect r="r" b="b" t="t" l="l"/>
            <a:pathLst>
              <a:path h="3739730" w="8457889">
                <a:moveTo>
                  <a:pt x="0" y="0"/>
                </a:moveTo>
                <a:lnTo>
                  <a:pt x="8457889" y="0"/>
                </a:lnTo>
                <a:lnTo>
                  <a:pt x="8457889" y="3739730"/>
                </a:lnTo>
                <a:lnTo>
                  <a:pt x="0" y="37397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933" r="-1024" b="-237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569571"/>
            <a:ext cx="8310170" cy="3717429"/>
          </a:xfrm>
          <a:custGeom>
            <a:avLst/>
            <a:gdLst/>
            <a:ahLst/>
            <a:cxnLst/>
            <a:rect r="r" b="b" t="t" l="l"/>
            <a:pathLst>
              <a:path h="3717429" w="8310170">
                <a:moveTo>
                  <a:pt x="0" y="0"/>
                </a:moveTo>
                <a:lnTo>
                  <a:pt x="8310170" y="0"/>
                </a:lnTo>
                <a:lnTo>
                  <a:pt x="8310170" y="3717429"/>
                </a:lnTo>
                <a:lnTo>
                  <a:pt x="0" y="37174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943" r="0" b="-4943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554379" cy="4663767"/>
          </a:xfrm>
          <a:custGeom>
            <a:avLst/>
            <a:gdLst/>
            <a:ahLst/>
            <a:cxnLst/>
            <a:rect r="r" b="b" t="t" l="l"/>
            <a:pathLst>
              <a:path h="4663767" w="10554379">
                <a:moveTo>
                  <a:pt x="0" y="0"/>
                </a:moveTo>
                <a:lnTo>
                  <a:pt x="10554379" y="0"/>
                </a:lnTo>
                <a:lnTo>
                  <a:pt x="10554379" y="4663767"/>
                </a:lnTo>
                <a:lnTo>
                  <a:pt x="0" y="46637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36" r="0" b="-103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620043" y="4663767"/>
            <a:ext cx="12667957" cy="5623233"/>
          </a:xfrm>
          <a:custGeom>
            <a:avLst/>
            <a:gdLst/>
            <a:ahLst/>
            <a:cxnLst/>
            <a:rect r="r" b="b" t="t" l="l"/>
            <a:pathLst>
              <a:path h="5623233" w="12667957">
                <a:moveTo>
                  <a:pt x="0" y="0"/>
                </a:moveTo>
                <a:lnTo>
                  <a:pt x="12667957" y="0"/>
                </a:lnTo>
                <a:lnTo>
                  <a:pt x="12667957" y="5623233"/>
                </a:lnTo>
                <a:lnTo>
                  <a:pt x="0" y="56232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503" r="0" b="-3503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2340159" cy="5592998"/>
          </a:xfrm>
          <a:custGeom>
            <a:avLst/>
            <a:gdLst/>
            <a:ahLst/>
            <a:cxnLst/>
            <a:rect r="r" b="b" t="t" l="l"/>
            <a:pathLst>
              <a:path h="5592998" w="12340159">
                <a:moveTo>
                  <a:pt x="0" y="0"/>
                </a:moveTo>
                <a:lnTo>
                  <a:pt x="12340159" y="0"/>
                </a:lnTo>
                <a:lnTo>
                  <a:pt x="12340159" y="5592998"/>
                </a:lnTo>
                <a:lnTo>
                  <a:pt x="0" y="55929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16" r="-7418" b="-627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267001" y="5592998"/>
            <a:ext cx="11992299" cy="4479686"/>
          </a:xfrm>
          <a:custGeom>
            <a:avLst/>
            <a:gdLst/>
            <a:ahLst/>
            <a:cxnLst/>
            <a:rect r="r" b="b" t="t" l="l"/>
            <a:pathLst>
              <a:path h="4479686" w="11992299">
                <a:moveTo>
                  <a:pt x="0" y="0"/>
                </a:moveTo>
                <a:lnTo>
                  <a:pt x="11992299" y="0"/>
                </a:lnTo>
                <a:lnTo>
                  <a:pt x="11992299" y="4479686"/>
                </a:lnTo>
                <a:lnTo>
                  <a:pt x="0" y="44796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09" t="0" r="-1809" b="-14252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26793" y="2566079"/>
            <a:ext cx="9461000" cy="7492645"/>
            <a:chOff x="0" y="0"/>
            <a:chExt cx="2491786" cy="19733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91786" cy="1973371"/>
            </a:xfrm>
            <a:custGeom>
              <a:avLst/>
              <a:gdLst/>
              <a:ahLst/>
              <a:cxnLst/>
              <a:rect r="r" b="b" t="t" l="l"/>
              <a:pathLst>
                <a:path h="1973371" w="2491786">
                  <a:moveTo>
                    <a:pt x="0" y="0"/>
                  </a:moveTo>
                  <a:lnTo>
                    <a:pt x="2491786" y="0"/>
                  </a:lnTo>
                  <a:lnTo>
                    <a:pt x="2491786" y="1973371"/>
                  </a:lnTo>
                  <a:lnTo>
                    <a:pt x="0" y="197337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491786" cy="19733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54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5221788" y="9647320"/>
            <a:ext cx="2262702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754"/>
              </a:lnSpc>
              <a:spcBef>
                <a:spcPct val="0"/>
              </a:spcBef>
            </a:pPr>
            <a:r>
              <a:rPr lang="en-US" sz="1462" strike="noStrike" u="none">
                <a:solidFill>
                  <a:srgbClr val="737875"/>
                </a:solidFill>
                <a:latin typeface="Segoe UI"/>
                <a:ea typeface="Segoe UI"/>
                <a:cs typeface="Segoe UI"/>
                <a:sym typeface="Segoe UI"/>
              </a:rPr>
              <a:t>17 / 19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622043" y="6312402"/>
            <a:ext cx="7664540" cy="3793947"/>
          </a:xfrm>
          <a:custGeom>
            <a:avLst/>
            <a:gdLst/>
            <a:ahLst/>
            <a:cxnLst/>
            <a:rect r="r" b="b" t="t" l="l"/>
            <a:pathLst>
              <a:path h="3793947" w="7664540">
                <a:moveTo>
                  <a:pt x="0" y="0"/>
                </a:moveTo>
                <a:lnTo>
                  <a:pt x="7664540" y="0"/>
                </a:lnTo>
                <a:lnTo>
                  <a:pt x="7664540" y="3793947"/>
                </a:lnTo>
                <a:lnTo>
                  <a:pt x="0" y="37939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622043" y="2423950"/>
            <a:ext cx="7664540" cy="3793947"/>
          </a:xfrm>
          <a:custGeom>
            <a:avLst/>
            <a:gdLst/>
            <a:ahLst/>
            <a:cxnLst/>
            <a:rect r="r" b="b" t="t" l="l"/>
            <a:pathLst>
              <a:path h="3793947" w="7664540">
                <a:moveTo>
                  <a:pt x="0" y="0"/>
                </a:moveTo>
                <a:lnTo>
                  <a:pt x="7664540" y="0"/>
                </a:lnTo>
                <a:lnTo>
                  <a:pt x="7664540" y="3793948"/>
                </a:lnTo>
                <a:lnTo>
                  <a:pt x="0" y="37939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530341" y="9647320"/>
            <a:ext cx="2262702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754"/>
              </a:lnSpc>
              <a:spcBef>
                <a:spcPct val="0"/>
              </a:spcBef>
            </a:pPr>
            <a:r>
              <a:rPr lang="en-US" sz="1462" strike="noStrike" u="none">
                <a:solidFill>
                  <a:srgbClr val="737875"/>
                </a:solidFill>
                <a:latin typeface="Segoe UI"/>
                <a:ea typeface="Segoe UI"/>
                <a:cs typeface="Segoe UI"/>
                <a:sym typeface="Segoe UI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800100" y="4476750"/>
          <a:ext cx="10858500" cy="3562350"/>
        </p:xfrm>
        <a:graphic>
          <a:graphicData uri="http://schemas.openxmlformats.org/drawingml/2006/table">
            <a:tbl>
              <a:tblPr/>
              <a:tblGrid>
                <a:gridCol w="3619500"/>
                <a:gridCol w="3619500"/>
                <a:gridCol w="3619500"/>
              </a:tblGrid>
              <a:tr h="76061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47"/>
                        </a:lnSpc>
                        <a:defRPr/>
                      </a:pPr>
                      <a:r>
                        <a:rPr lang="en-US" sz="1462" b="true">
                          <a:solidFill>
                            <a:srgbClr val="FFFFFF"/>
                          </a:solidFill>
                          <a:latin typeface="Segoe UI Bold"/>
                          <a:ea typeface="Segoe UI Bold"/>
                          <a:cs typeface="Segoe UI Bold"/>
                          <a:sym typeface="Segoe UI Bold"/>
                        </a:rPr>
                        <a:t>Banc de 39 cas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47"/>
                        </a:lnSpc>
                        <a:defRPr/>
                      </a:pPr>
                      <a:r>
                        <a:rPr lang="en-US" sz="1462" b="true">
                          <a:solidFill>
                            <a:srgbClr val="FFFFFF"/>
                          </a:solidFill>
                          <a:latin typeface="Segoe UI Bold"/>
                          <a:ea typeface="Segoe UI Bold"/>
                          <a:cs typeface="Segoe UI Bold"/>
                          <a:sym typeface="Segoe UI Bold"/>
                        </a:rPr>
                        <a:t>Rappel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47"/>
                        </a:lnSpc>
                        <a:defRPr/>
                      </a:pPr>
                      <a:r>
                        <a:rPr lang="en-US" sz="1462" b="true">
                          <a:solidFill>
                            <a:srgbClr val="FFFFFF"/>
                          </a:solidFill>
                          <a:latin typeface="Segoe UI Bold"/>
                          <a:ea typeface="Segoe UI Bold"/>
                          <a:cs typeface="Segoe UI Bold"/>
                          <a:sym typeface="Segoe UI Bold"/>
                        </a:rPr>
                        <a:t>Dommage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</a:tr>
              <a:tr h="93391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Français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89,5 %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0 %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391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Arabe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71,4 %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0 %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391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Ensemble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85,7 %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0 %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15530341" y="9647320"/>
            <a:ext cx="2262702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754"/>
              </a:lnSpc>
              <a:spcBef>
                <a:spcPct val="0"/>
              </a:spcBef>
            </a:pPr>
            <a:r>
              <a:rPr lang="en-US" sz="1462" strike="noStrike" u="none">
                <a:solidFill>
                  <a:srgbClr val="737875"/>
                </a:solidFill>
                <a:latin typeface="Segoe UI"/>
                <a:ea typeface="Segoe UI"/>
                <a:cs typeface="Segoe UI"/>
                <a:sym typeface="Segoe UI"/>
              </a:rPr>
              <a:t>18 / 19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00100" y="485775"/>
            <a:ext cx="13885664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  <a:spcBef>
                <a:spcPct val="0"/>
              </a:spcBef>
            </a:pPr>
            <a:r>
              <a:rPr lang="en-US" b="true" sz="6600">
                <a:solidFill>
                  <a:srgbClr val="25452E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M8 | Sécurité, gouvernance et conformité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00100" y="1428750"/>
            <a:ext cx="7588746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  <a:spcBef>
                <a:spcPct val="0"/>
              </a:spcBef>
            </a:pPr>
            <a:r>
              <a:rPr lang="en-US" sz="3900">
                <a:solidFill>
                  <a:srgbClr val="2E5A3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Taha Kachmar — Sécurité &amp; conformité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00100" y="2457450"/>
            <a:ext cx="7588746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9"/>
              </a:lnSpc>
              <a:spcBef>
                <a:spcPct val="0"/>
              </a:spcBef>
            </a:pPr>
            <a:r>
              <a:rPr lang="en-US" b="true" sz="3699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Mesures d'anonymisation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00100" y="3009900"/>
            <a:ext cx="10858500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9" indent="-334645" lvl="1">
              <a:lnSpc>
                <a:spcPts val="371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Placement : entre le nettoyage et l'écriture — le dernier point où retirer une personne reste une modification de texte, pas une reconstruction de l'index.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00100" y="8153400"/>
            <a:ext cx="10858500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  <a:spcBef>
                <a:spcPct val="0"/>
              </a:spcBef>
            </a:pPr>
            <a:r>
              <a:rPr lang="en-US" sz="2250" i="true">
                <a:solidFill>
                  <a:srgbClr val="000000"/>
                </a:solidFill>
                <a:latin typeface="Roboto Condensed Italics"/>
                <a:ea typeface="Roboto Condensed Italics"/>
                <a:cs typeface="Roboto Condensed Italics"/>
                <a:sym typeface="Roboto Condensed Italics"/>
              </a:rPr>
              <a:t>Rappel : données personnelles détectées · Dommage : texte juridique masqué à tort. L'arabe n'a pas de majuscules : un rappel plus haut aurait masqué des phrases juridiques.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00100" y="8829675"/>
            <a:ext cx="1085850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  <a:spcBef>
                <a:spcPct val="0"/>
              </a:spcBef>
            </a:pPr>
            <a:r>
              <a:rPr lang="en-US" b="true" sz="3300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Journal d'audit &amp; AI Act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00100" y="9363075"/>
            <a:ext cx="16573500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5775" indent="-242888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Journal d'audit : utilisateur pseudonymisé (HMAC) ; refuse d'écrire un e-mail, une IP ou un jeton, et refuse d'écrire sans sa clé.</a:t>
            </a:r>
          </a:p>
          <a:p>
            <a:pPr algn="l" marL="485775" indent="-242888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AI Act : usage par les juridictions exclu (décision A-3), donc hors haut risque ; reste l'obligation de transparence (art. 50).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287250" y="2428875"/>
            <a:ext cx="520065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Portes CI &amp; preuves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287250" y="3171825"/>
            <a:ext cx="5200650" cy="1071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4 contrôles bloquants en CI : Bandit, pip-audit, scan de secrets, aucun nom de fichier source publié.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287250" y="5305425"/>
            <a:ext cx="5200650" cy="1423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Scan de secrets : reconnu par la forme du jeton, insensible à la casse. 0 / 7 détectés avant, 7 / 7 après, 0 faux positif.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287250" y="7591425"/>
            <a:ext cx="5200650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100 tests M8 exécutés (release/0.2.0).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530341" y="9637795"/>
            <a:ext cx="2262702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754"/>
              </a:lnSpc>
              <a:spcBef>
                <a:spcPct val="0"/>
              </a:spcBef>
            </a:pPr>
            <a:r>
              <a:rPr lang="en-US" sz="1462" strike="noStrike" u="none">
                <a:solidFill>
                  <a:srgbClr val="73787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19 /29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00100" y="1504950"/>
            <a:ext cx="16573500" cy="742950"/>
            <a:chOff x="0" y="0"/>
            <a:chExt cx="22098000" cy="990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098000" cy="990600"/>
            </a:xfrm>
            <a:custGeom>
              <a:avLst/>
              <a:gdLst/>
              <a:ahLst/>
              <a:cxnLst/>
              <a:rect r="r" b="b" t="t" l="l"/>
              <a:pathLst>
                <a:path h="9906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294932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2098000" cy="1019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00100" y="6915150"/>
            <a:ext cx="16573500" cy="2000250"/>
            <a:chOff x="0" y="0"/>
            <a:chExt cx="22098000" cy="2667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098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EDEDED"/>
            </a:solidFill>
            <a:ln w="9525" cap="sq">
              <a:solidFill>
                <a:srgbClr val="3B3F3C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2098000" cy="2695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800100" y="485775"/>
            <a:ext cx="16573500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25452E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M8 | Écarts ouverts et limites du registre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85850" y="1695450"/>
            <a:ext cx="160020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Registre 1.7 : 5 fiches · 15 écarts fermés · 5 ouverts. La version 1.9, en revue, en déclare 9.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00100" y="2533650"/>
            <a:ext cx="16573500" cy="2350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12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E-01 — Détection par règles (français et arabe), pas par NER : un nom jamais introduit par une civilité échappe au masquage. Seul point bloquant avant un corpus réel. (M8)</a:t>
            </a:r>
          </a:p>
          <a:p>
            <a:pPr algn="l" marL="518160" indent="-259080" lvl="1">
              <a:lnSpc>
                <a:spcPts val="312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E-06 — Chiffrement au repos non documenté par l'hébergeur ; le corpus est entièrement synthétique aujourd'hui. (M8 + M1)</a:t>
            </a:r>
          </a:p>
          <a:p>
            <a:pPr algn="l" marL="518160" indent="-259080" lvl="1">
              <a:lnSpc>
                <a:spcPts val="312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E-11 — SourceType mêle catégories de document et canaux de collecte. (M8 + M1)</a:t>
            </a:r>
          </a:p>
          <a:p>
            <a:pPr algn="l" marL="518160" indent="-259080" lvl="1">
              <a:lnSpc>
                <a:spcPts val="312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E-13 — POST /documents/analyze transmet le nom du document dans l'URL ; déjà retiré des traces. (M5)</a:t>
            </a:r>
          </a:p>
          <a:p>
            <a:pPr algn="l" marL="518160" indent="-259080" lvl="1">
              <a:lnSpc>
                <a:spcPts val="312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E-14 — Journal d'audit livré et rétention configurée, mais l'API ne l'appelle pas : aucun événement n'est écrit. (M5 + M8)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85850" y="7067550"/>
            <a:ext cx="1600200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Corrections assumées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85850" y="7648575"/>
            <a:ext cx="16002000" cy="946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1005" indent="-210502" lvl="1">
              <a:lnSpc>
                <a:spcPts val="2535"/>
              </a:lnSpc>
              <a:buFont typeface="Arial"/>
              <a:buChar char="•"/>
            </a:pPr>
            <a:r>
              <a:rPr lang="en-US" sz="195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L'AIPD affirmait que la propagation des noms était indépendante de la langue. Vérifié en l'exécutant : aucun nom arabe n'était propagé. Corrigé par une note datée, pas en silence.</a:t>
            </a:r>
          </a:p>
          <a:p>
            <a:pPr algn="l" marL="421005" indent="-210502" lvl="1">
              <a:lnSpc>
                <a:spcPts val="2535"/>
              </a:lnSpc>
              <a:buFont typeface="Arial"/>
              <a:buChar char="•"/>
            </a:pPr>
            <a:r>
              <a:rPr lang="en-US" sz="195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Le registre du tag v0.2.0 déclarait E-04 et E-12 ouverts, alors que Loki (3 ans) et Tempo (30 jours) étaient déjà configurés, et il omettait E-14.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09600" cy="10287000"/>
            <a:chOff x="0" y="0"/>
            <a:chExt cx="16055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0553" cy="2709333"/>
            </a:xfrm>
            <a:custGeom>
              <a:avLst/>
              <a:gdLst/>
              <a:ahLst/>
              <a:cxnLst/>
              <a:rect r="r" b="b" t="t" l="l"/>
              <a:pathLst>
                <a:path h="2709333" w="160553">
                  <a:moveTo>
                    <a:pt x="0" y="0"/>
                  </a:moveTo>
                  <a:lnTo>
                    <a:pt x="160553" y="0"/>
                  </a:lnTo>
                  <a:lnTo>
                    <a:pt x="16055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84F3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60553" cy="2709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54"/>
                </a:lnSpc>
              </a:pPr>
            </a:p>
            <a:p>
              <a:pPr algn="ctr">
                <a:lnSpc>
                  <a:spcPts val="1754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866900" y="6000750"/>
            <a:ext cx="15735300" cy="0"/>
          </a:xfrm>
          <a:prstGeom prst="line">
            <a:avLst/>
          </a:prstGeom>
          <a:ln cap="flat" w="38100">
            <a:solidFill>
              <a:srgbClr val="184F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2287250" y="6858000"/>
            <a:ext cx="762000" cy="762000"/>
          </a:xfrm>
          <a:custGeom>
            <a:avLst/>
            <a:gdLst/>
            <a:ahLst/>
            <a:cxnLst/>
            <a:rect r="r" b="b" t="t" l="l"/>
            <a:pathLst>
              <a:path h="762000" w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9750" y="3114675"/>
            <a:ext cx="16192500" cy="145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99"/>
              </a:lnSpc>
            </a:pPr>
            <a:r>
              <a:rPr lang="en-US" sz="9999" b="true">
                <a:solidFill>
                  <a:srgbClr val="184F34"/>
                </a:solidFill>
                <a:latin typeface="Arimo Bold"/>
                <a:ea typeface="Arimo Bold"/>
                <a:cs typeface="Arimo Bold"/>
                <a:sym typeface="Arimo Bold"/>
              </a:rPr>
              <a:t>Merci pour votre attention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66900" y="4495800"/>
            <a:ext cx="9525000" cy="88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i="true">
                <a:solidFill>
                  <a:srgbClr val="666666"/>
                </a:solidFill>
                <a:latin typeface="Arimo Italics"/>
                <a:ea typeface="Arimo Italics"/>
                <a:cs typeface="Arimo Italics"/>
                <a:sym typeface="Arimo Italics"/>
              </a:rPr>
              <a:t>Questions &amp; discussion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66900" y="6915150"/>
            <a:ext cx="4953000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Équipe CloudMind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077075" y="6915150"/>
            <a:ext cx="4953000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Pr. AIT DAOUD Mohamed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125450" y="6981825"/>
            <a:ext cx="4476750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184F34"/>
                </a:solidFill>
                <a:latin typeface="Arimo"/>
                <a:ea typeface="Arimo"/>
                <a:cs typeface="Arimo"/>
                <a:sym typeface="Arimo"/>
              </a:rPr>
              <a:t>github.com/CloudMind-Group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66900" y="6429375"/>
            <a:ext cx="514350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300" b="true">
                <a:solidFill>
                  <a:srgbClr val="184F34"/>
                </a:solidFill>
                <a:latin typeface="Arimo Bold"/>
                <a:ea typeface="Arimo Bold"/>
                <a:cs typeface="Arimo Bold"/>
                <a:sym typeface="Arimo Bold"/>
              </a:rPr>
              <a:t>RÉALISÉ PAR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077075" y="6429375"/>
            <a:ext cx="514350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300" b="true">
                <a:solidFill>
                  <a:srgbClr val="184F34"/>
                </a:solidFill>
                <a:latin typeface="Arimo Bold"/>
                <a:ea typeface="Arimo Bold"/>
                <a:cs typeface="Arimo Bold"/>
                <a:sym typeface="Arimo Bold"/>
              </a:rPr>
              <a:t>ENCADRÉ PAR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287250" y="6429375"/>
            <a:ext cx="514350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300" b="true">
                <a:solidFill>
                  <a:srgbClr val="184F34"/>
                </a:solidFill>
                <a:latin typeface="Arimo Bold"/>
                <a:ea typeface="Arimo Bold"/>
                <a:cs typeface="Arimo Bold"/>
                <a:sym typeface="Arimo Bold"/>
              </a:rPr>
              <a:t>CODE SOURCE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DAHVeEaVvio</dc:identifier>
  <dcterms:modified xsi:type="dcterms:W3CDTF">2011-08-01T06:04:30Z</dcterms:modified>
  <cp:revision>1</cp:revision>
  <dc:title>Legal_MLOps_Architecture.pptx</dc:title>
</cp:coreProperties>
</file>